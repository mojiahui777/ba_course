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lab.research.google.com/github/mojiahui777/ba_course/blob/main/kmeans_clustering_iris_demo.ipyn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4754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1">
                <a:solidFill>
                  <a:srgbClr val="FF6C6C"/>
                </a:solidFill>
                <a:latin typeface="Aptos"/>
              </a:defRPr>
            </a:pPr>
            <a:r>
              <a:t>HANDS-ON TEACHING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955279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K-means Clustering</a:t>
            </a:r>
            <a:br/>
            <a:r>
              <a:t>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8686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0">
                <a:solidFill>
                  <a:srgbClr val="D2D7DC"/>
                </a:solidFill>
                <a:latin typeface="Aptos"/>
              </a:defRPr>
            </a:pPr>
            <a:r>
              <a:t>Iris dataset  •  Step-by-step code  • 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440680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Dr. Jiahui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79008"/>
            <a:ext cx="5029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300" b="0">
                <a:solidFill>
                  <a:srgbClr val="BEC5CB"/>
                </a:solidFill>
                <a:latin typeface="Aptos"/>
              </a:defRPr>
            </a:pPr>
            <a:r>
              <a:t>Information Technology &amp;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What will we do?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35024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07592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07592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Read the Iris CSV into a pandas DataFrame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267712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76856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49424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49424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Select four measurements and scale them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09544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7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91256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191256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Fit K-means with K = 3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151376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3308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133088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Review cluster size, means, and WSSE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93208"/>
            <a:ext cx="502920" cy="502920"/>
          </a:xfrm>
          <a:prstGeom prst="ellipse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02352"/>
            <a:ext cx="50292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07492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1F252B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074920"/>
            <a:ext cx="80467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0">
                <a:solidFill>
                  <a:srgbClr val="5F6770"/>
                </a:solidFill>
                <a:latin typeface="Aptos"/>
              </a:defRPr>
            </a:pPr>
            <a:r>
              <a:t>Use the elbow plot, visualization, and species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1 · FRAME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Business problem and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463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84632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400" b="1">
                <a:solidFill>
                  <a:srgbClr val="1F252B"/>
                </a:solidFill>
                <a:latin typeface="Aptos"/>
              </a:defRPr>
            </a:pPr>
            <a:r>
              <a:t>Identify groups of iris flowers from their sepal and petal measurements.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4846320" cy="822960"/>
          </a:xfrm>
          <a:prstGeom prst="roundRect">
            <a:avLst/>
          </a:prstGeom>
          <a:solidFill>
            <a:srgbClr val="FFF4F4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CC0000"/>
                </a:solidFill>
                <a:latin typeface="Aptos"/>
              </a:defRPr>
            </a:pPr>
            <a:r>
              <a:t>K-means is unsupervised: SPECIES is not used to create the clusters.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06440" y="1325880"/>
          <a:ext cx="57150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</a:tblGrid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RowNames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Observation 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SPECIES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Known label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Flower species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SEPAL.L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 length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SEPAL.W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Sepal width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PETAL.L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 length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PETAL.W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Petal width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2 · SET UP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Import the libraries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import io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import matplotlib.pyplot as plt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import pandas as pd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4  from sklearn.cluster import KMeans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5  from sklearn.preprocessing import MinMaxScaler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Reads an uploaded file stored as bytes.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Creates charts.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Loads and summarizes tabular data.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Imports the K-means algorithm.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5  Imports 0–1 feature scaling.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Choose how to load the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1  raw_url = "https://raw.githubusercontent.com/.../iris_csv.csv"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2  UPLOAD_FILE = False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Stores the direct GitHub address of the CSV.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False loads from GitHub. Change to True to upload a file in Colab.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Load from GitHub or upload a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1  if UPLOAD_FILE: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2      from google.colab import files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3      uploaded = files.upload()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4      df = pd.read_csv(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5          io.BytesIO(next(iter(uploaded.values())))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6      )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7  else:</a:t>
            </a:r>
          </a:p>
          <a:p>
            <a:pPr>
              <a:spcAft>
                <a:spcPts val="300"/>
              </a:spcAft>
              <a:defRPr sz="1300">
                <a:solidFill>
                  <a:srgbClr val="ECEFF1"/>
                </a:solidFill>
                <a:latin typeface="Menlo"/>
              </a:defRPr>
            </a:pPr>
            <a:r>
              <a:t> 8      df = pd.read_csv(raw_url)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1–3  When True, Colab displays a Choose Files button.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4–6  Selects the uploaded bytes and converts them into a DataFrame named df.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7–8  Otherwise, pandas reads the CSV from GitHub.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Check the loaded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1  print(f"Dataset shape: {df.shape[0]} rows × {df.shape[1]} columns")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2  df.head()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3  df.describe(include="all").round(2)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Shows the number of rows and columns: 150 × 6.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Displays the first five observations.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Summarizes numerical and categorical columns; values are rounded to two decimals.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4 · SELECT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Select the clustering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feature_columns = ["SEPAL.L", "SEPAL.W",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               "PETAL.L", "PETAL.W"]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X = df[feature_columns]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4  X.head()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1–2  Lists the four measurements used to compare flowers.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Creates X, the feature table used by K-means.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Checks the first five rows of 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5 · PREPARE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Check and scale the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print(X.isna().sum())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scaler = MinMaxScaler()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X_scaled = scaler.fit_transform(X)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Counts missing values in each feature. K-means needs complete numerical data.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Creates a scaler that maps every feature to the range 0–1.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Learns each feature's minimum and maximum, then scales X.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6 · RUN 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Fit K-means with K =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kmeans = KMeans(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n_clusters=3,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    random_state=10,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4      n_init=10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5  )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6  df["Cluster"] = kmeans.fit_predict(X_scaled)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the K-means model.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Requests three clusters.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Makes the result reproducible.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Tries ten starting solutions and keeps the best.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6  Fits the model and saves each flower's cluster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7 · INTERPRET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Summarize each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1  cluster_summary = df.groupby("Cluster")[feature_columns].mean().round(2)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2  cluster_summary.insert(0, "Count", df.groupby("Cluster").size())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3  display(cluster_summary)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4  print(f"WSSE: {kmeans.inertia_:.4f}")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Groups rows by cluster and calculates each measurement's mean.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Adds the number of flowers in each cluster.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Displays the completed summary table.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Reports within-cluster sum of squared errors.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7 · INTERPRET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Cluster 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SEPAL.L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SEPAL.W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PETAL.L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PETAL.W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</a:tr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39.0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6.85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3.08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5.7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2.08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1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50.0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5.01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3.43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1.46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0.25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73152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61.0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5.89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2.74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4.4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1.42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49640" y="160020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WSSE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993392"/>
            <a:ext cx="237744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400" b="1">
                <a:solidFill>
                  <a:srgbClr val="1F252B"/>
                </a:solidFill>
                <a:latin typeface="Aptos"/>
              </a:defRPr>
            </a:pPr>
            <a:r>
              <a:t>6.9822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788920"/>
            <a:ext cx="2514600" cy="1325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600" b="0">
                <a:solidFill>
                  <a:srgbClr val="5F6770"/>
                </a:solidFill>
                <a:latin typeface="Aptos"/>
              </a:defRPr>
            </a:pPr>
            <a:r>
              <a:t>Lower WSSE means observations are closer to their assigned centers. Compare WSSE only when using the same scaled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00600"/>
            <a:ext cx="10789920" cy="73152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Interpretation question: Which measurements most clearly distinguish the clusters?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8 · CHOOSE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Calculate WSSE for several values of 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1  k_values = range(2, 9)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2  wsse_values = [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3      KMeans(n_clusters=k, random_state=10, n_init=10)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4      .fit(X_scaled).inertia_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5      for k in k_values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6 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Tests K values from 2 through 8.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2–6  Fits one K-means model for each K and stores its WSSE.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Uses the same seed and ten starts for fair comparison.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  Extracts inertia_, scikit-learn's WSSE measure.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8 · CHOOSE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Draw the elbow plot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1  plt.figure(figsize=(7, 4))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2  plt.plot(k_values, wsse_values, marker="o")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3  plt.xlabel("Number of clusters (K)")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4  plt.ylabel("WSSE")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5  plt.title("Elbow Plot for K-means")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6  plt.xticks(list(k_values))</a:t>
            </a:r>
          </a:p>
          <a:p>
            <a:pPr>
              <a:spcAft>
                <a:spcPts val="300"/>
              </a:spcAft>
              <a:defRPr sz="1200">
                <a:solidFill>
                  <a:srgbClr val="ECEFF1"/>
                </a:solidFill>
                <a:latin typeface="Menlo"/>
              </a:defRPr>
            </a:pPr>
            <a:r>
              <a:t> 7  plt.show()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the plotting area.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Plots K against WSSE and marks each tested value.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3–5  Adds clear axis labels and a title.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6  Shows every tested K on the horizontal axis.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7  Displays the completed chart.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8 · CHOOSE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Interpret the elbow</a:t>
            </a:r>
          </a:p>
        </p:txBody>
      </p:sp>
      <p:pic>
        <p:nvPicPr>
          <p:cNvPr id="5" name="Picture 4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554480"/>
            <a:ext cx="25603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100" b="1">
                <a:solidFill>
                  <a:srgbClr val="CC0000"/>
                </a:solidFill>
                <a:latin typeface="Aptos"/>
              </a:defRPr>
            </a:pPr>
            <a:r>
              <a:t>Look for the bend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148840"/>
            <a:ext cx="3154680" cy="2560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WSSE always decreases as K increases.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The improvement becomes much smaller after K = 3.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K = 3 is a reasonable balance between fit and simplicity.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4983480"/>
            <a:ext cx="3154680" cy="68580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The elbow method is a judgment tool—not an automatic rule.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9 · VISUALIZE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Prepare the cluster centers for plotting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centers = scaler.inverse_transform(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kmeans.cluster_centers_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centers in the original measurement units.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cluster_centers_ contains the model's centers in scaled units.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1–3  inverse_transform converts 0–1 values back to centimeters.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9 · VISUALIZE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Plot observations and cluster centers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1  plt.figure(figsize=(8, 5))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2  plt.scatter(df["PETAL.L"], df["PETAL.W"],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3              c=df["Cluster"], cmap="viridis")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4  plt.scatter(centers[:, 2], centers[:, 3],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5              color="red", marker="X", s=200)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6  plt.xlabel("Petal length (cm)")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7  plt.ylabel("Petal width (cm)")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8  plt.title("K-means Clusters of Iris Flowers")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 9  plt.colorbar(label="Cluster")</a:t>
            </a:r>
          </a:p>
          <a:p>
            <a:pPr>
              <a:spcAft>
                <a:spcPts val="300"/>
              </a:spcAft>
              <a:defRPr sz="1000">
                <a:solidFill>
                  <a:srgbClr val="ECEFF1"/>
                </a:solidFill>
                <a:latin typeface="Menlo"/>
              </a:defRPr>
            </a:pPr>
            <a:r>
              <a:t>10  plt.show()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Creates the plotting area.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2–3  Plots each flower; color represents its assigned cluster.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4–5  Adds a large red X at each cluster center.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6–8  Adds labels and a descriptive title.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9  Explains the cluster colors.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10  Displays the plot.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9 · VISUALIZE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Interpret the cluster plot</a:t>
            </a:r>
          </a:p>
        </p:txBody>
      </p:sp>
      <p:pic>
        <p:nvPicPr>
          <p:cNvPr id="5" name="Picture 4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498079" cy="4498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00200"/>
            <a:ext cx="297180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One group has very short, narrow petals.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The other two groups overlap more closely.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Red X symbols represent the cluster centers.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This plot shows only two of the four model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5074920"/>
            <a:ext cx="3017520" cy="68580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Do not judge a four-feature model from one two-dimensional view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10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Compare clusters with known species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98448"/>
            <a:ext cx="5669280" cy="4846320"/>
          </a:xfrm>
          <a:prstGeom prst="roundRect">
            <a:avLst/>
          </a:prstGeom>
          <a:solidFill>
            <a:srgbClr val="1A1F24"/>
          </a:solidFill>
          <a:ln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137160" tIns="164592" bIns="109728"/>
          <a:lstStyle/>
          <a:p>
            <a:pPr algn="ctr"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1  pd.crosstab(df["Cluster"],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2              df["SPECIES"],</a:t>
            </a:r>
          </a:p>
          <a:p>
            <a:pPr>
              <a:spcAft>
                <a:spcPts val="300"/>
              </a:spcAft>
              <a:defRPr sz="1400">
                <a:solidFill>
                  <a:srgbClr val="ECEFF1"/>
                </a:solidFill>
                <a:latin typeface="Menlo"/>
              </a:defRPr>
            </a:pPr>
            <a:r>
              <a:t> 3              margins=True)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298448"/>
            <a:ext cx="5029200" cy="4846320"/>
          </a:xfrm>
          <a:prstGeom prst="roundRect">
            <a:avLst/>
          </a:prstGeom>
          <a:solidFill>
            <a:srgbClr val="F4F5F6"/>
          </a:solidFill>
          <a:ln>
            <a:solidFill>
              <a:srgbClr val="D8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64592"/>
          <a:lstStyle/>
          <a:p>
            <a:pPr algn="ctr"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1  Places the discovered cluster numbers in rows.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2  Places the known species labels in columns.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3  Adds row and column totals.</a:t>
            </a:r>
          </a:p>
          <a:p>
            <a:pPr>
              <a:spcAft>
                <a:spcPts val="1000"/>
              </a:spcAft>
              <a:defRPr sz="1600">
                <a:solidFill>
                  <a:srgbClr val="1F252B"/>
                </a:solidFill>
                <a:latin typeface="Aptos"/>
              </a:defRPr>
            </a:pPr>
            <a:r>
              <a:rPr b="0"/>
              <a:t>Note  SPECIES evaluates the result; it was not used to fit K-means.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STEP 10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Cluster-to-species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508760"/>
          <a:ext cx="74980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Setosa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Versicolor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Virginica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 marL="45720" marR="45720" marT="27432" marB="27432">
                    <a:solidFill>
                      <a:srgbClr val="CC0000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39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1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Cluster 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47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61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All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0">
                          <a:solidFill>
                            <a:srgbClr val="1F252B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 marL="45720" marR="45720" marT="27432" marB="27432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23960" y="1691640"/>
            <a:ext cx="2468880" cy="2286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Setosa is separated cleanly.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Versicolor and Virginica overlap.</a:t>
            </a:r>
          </a:p>
          <a:p>
            <a:pPr>
              <a:spcAft>
                <a:spcPts val="800"/>
              </a:spcAft>
              <a:defRPr sz="1700">
                <a:solidFill>
                  <a:srgbClr val="1F252B"/>
                </a:solidFill>
                <a:latin typeface="Aptos"/>
              </a:defRPr>
            </a:pPr>
            <a:r>
              <a:t>•  Cluster numbers are arbitrary labels—not rankings.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983480"/>
            <a:ext cx="10287000" cy="685800"/>
          </a:xfrm>
          <a:prstGeom prst="roundRect">
            <a:avLst/>
          </a:prstGeom>
          <a:solidFill>
            <a:srgbClr val="FFF4F4"/>
          </a:solidFill>
          <a:ln>
            <a:solidFill>
              <a:srgbClr val="2D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D64A0"/>
                </a:solidFill>
                <a:latin typeface="Aptos"/>
              </a:defRPr>
            </a:pPr>
            <a:r>
              <a:t>Good clustering supports interpretation; it does not guarantee perfect class prediction.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274320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200" b="1">
                <a:solidFill>
                  <a:srgbClr val="FF6C6C"/>
                </a:solidFill>
                <a:latin typeface="Aptos"/>
              </a:defRPr>
            </a:pPr>
            <a:r>
              <a:t>GENERAL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77724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A repeatable clustering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81051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Choose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219456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Use variables that address the business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304495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42900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Handle missing values, outliers, text, skew, and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27939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Choose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66344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Compare WSSE and use domain knowledge.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181051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Fit and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219456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Describe cluster size, centers, and characteristics.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63240"/>
            <a:ext cx="594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500" b="1">
                <a:solidFill>
                  <a:srgbClr val="FF6C6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3044952"/>
            <a:ext cx="2286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Validate usefulness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3429000"/>
            <a:ext cx="4251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400" b="0">
                <a:solidFill>
                  <a:srgbClr val="C3CAD0"/>
                </a:solidFill>
                <a:latin typeface="Aptos"/>
              </a:defRPr>
            </a:pPr>
            <a:r>
              <a:t>Connect the groups back to the original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881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Clustering is valuable when the groups lead to meaningful decisions.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1000" b="1">
                <a:solidFill>
                  <a:srgbClr val="CC0000"/>
                </a:solidFill>
                <a:latin typeface="Aptos"/>
              </a:defRPr>
            </a:pPr>
            <a:r>
              <a:t>TEACHING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2800" b="1">
                <a:solidFill>
                  <a:srgbClr val="1F252B"/>
                </a:solidFill>
                <a:latin typeface="Aptos"/>
              </a:defRPr>
            </a:pPr>
            <a:r>
              <a:t>Run the demo in Google Colab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Open the notebook using the Colab link below.</a:t>
            </a:r>
          </a:p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Keep UPLOAD_FILE = False to read from GitHub, or change it to True to upload a CSV.</a:t>
            </a:r>
          </a:p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Select Runtime → Run all.</a:t>
            </a:r>
          </a:p>
          <a:p>
            <a:pPr>
              <a:spcAft>
                <a:spcPts val="1300"/>
              </a:spcAft>
              <a:defRPr sz="1900">
                <a:solidFill>
                  <a:srgbClr val="1F252B"/>
                </a:solidFill>
                <a:latin typeface="Aptos"/>
              </a:defRPr>
            </a:pPr>
            <a:r>
              <a:t>•  Use File → Save a copy in Drive before editing or sharing with students.</a:t>
            </a:r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6903720" y="1874519"/>
            <a:ext cx="4114800" cy="731520"/>
          </a:xfrm>
          <a:prstGeom prst="rect">
            <a:avLst/>
          </a:prstGeom>
          <a:solidFill>
            <a:srgbClr val="CC0000"/>
          </a:solidFill>
          <a:ln>
            <a:solidFill>
              <a:srgbClr val="990000"/>
            </a:solidFill>
          </a:ln>
        </p:spPr>
        <p:txBody>
          <a:bodyPr wrap="none" lIns="45720" rIns="45720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OPEN THE COLAB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880360"/>
            <a:ext cx="475488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defRPr sz="1100" b="0">
                <a:solidFill>
                  <a:srgbClr val="2D64A0"/>
                </a:solidFill>
                <a:latin typeface="Aptos"/>
              </a:defRPr>
            </a:pPr>
            <a:r>
              <a:t>https://colab.research.google.com/github/mojiahui777/ba_course/blob/main/kmeans_clustering_iris_demo.ipynb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515600" cy="731520"/>
          </a:xfrm>
          <a:prstGeom prst="roundRect">
            <a:avLst/>
          </a:prstGeom>
          <a:solidFill>
            <a:srgbClr val="FFF4F4"/>
          </a:solidFill>
          <a:ln>
            <a:solidFill>
              <a:srgbClr val="27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600" b="1">
                <a:solidFill>
                  <a:srgbClr val="27805C"/>
                </a:solidFill>
                <a:latin typeface="Aptos"/>
              </a:defRPr>
            </a:pPr>
            <a:r>
              <a:t>Teaching tip: pause before each output and ask students to predict what they expect to see.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9436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defRPr sz="900" b="0">
                <a:solidFill>
                  <a:srgbClr val="5F6770"/>
                </a:solidFill>
                <a:latin typeface="Aptos"/>
              </a:defRPr>
            </a:pPr>
            <a:r>
              <a:t>Hands-on K-means Clustering with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547104"/>
            <a:ext cx="502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defRPr sz="900" b="0">
                <a:solidFill>
                  <a:srgbClr val="5F6770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