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CC0000"/>
                </a:solidFill>
                <a:latin typeface="Aptos"/>
              </a:defRPr>
            </a:pPr>
            <a:r>
              <a:t>HANDS-ON TEACHING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9601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800" b="1">
                <a:solidFill>
                  <a:srgbClr val="1A1F24"/>
                </a:solidFill>
                <a:latin typeface="Aptos"/>
              </a:defRPr>
            </a:pPr>
            <a:r>
              <a:t>Decision Tree Classification</a:t>
            </a:r>
            <a:br/>
            <a:r>
              <a:t>with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0632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0">
                <a:solidFill>
                  <a:srgbClr val="5B6573"/>
                </a:solidFill>
                <a:latin typeface="Aptos"/>
              </a:defRPr>
            </a:pPr>
            <a:r>
              <a:t>Credit dataset  •  Step-by-step code  •  Google Colab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4406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1A1F24"/>
                </a:solidFill>
                <a:latin typeface="Aptos"/>
              </a:defRPr>
            </a:pPr>
            <a:r>
              <a:t>Dr. Jiahui 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77900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5B6573"/>
                </a:solidFill>
                <a:latin typeface="Aptos"/>
              </a:defRPr>
            </a:pPr>
            <a:r>
              <a:t>Information Technology &amp; Business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What will we 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35331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1A1F24"/>
                </a:solidFill>
                <a:latin typeface="Aptos"/>
              </a:defRPr>
            </a:pPr>
            <a:r>
              <a:t>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353312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5B6573"/>
                </a:solidFill>
                <a:latin typeface="Aptos"/>
              </a:defRPr>
            </a:pPr>
            <a:r>
              <a:t>Read the Credit CSV into a pandas DataFrame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258568"/>
            <a:ext cx="502920" cy="50292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5856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28599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1A1F24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285999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5B6573"/>
                </a:solidFill>
                <a:latin typeface="Aptos"/>
              </a:defRPr>
            </a:pPr>
            <a:r>
              <a:t>Separate the target, encode categories, and split the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191256"/>
            <a:ext cx="502920" cy="50292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9125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21868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1A1F24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218688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5B6573"/>
                </a:solidFill>
                <a:latin typeface="Aptos"/>
              </a:defRPr>
            </a:pPr>
            <a:r>
              <a:t>Fit a readable entropy-based decision tree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123944"/>
            <a:ext cx="502920" cy="50292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239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151376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1A1F24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151376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5B6573"/>
                </a:solidFill>
                <a:latin typeface="Aptos"/>
              </a:defRPr>
            </a:pPr>
            <a:r>
              <a:t>Compare accuracy, baseline, and confusion matrix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056632"/>
            <a:ext cx="502920" cy="50292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5663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084064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1A1F24"/>
                </a:solidFill>
                <a:latin typeface="Aptos"/>
              </a:defRPr>
            </a:pPr>
            <a:r>
              <a:t>Interpret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5084064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5B6573"/>
                </a:solidFill>
                <a:latin typeface="Aptos"/>
              </a:defRPr>
            </a:pPr>
            <a:r>
              <a:t>Read the tree, rules, and feature importance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STEP 1 · FRAME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Business problem and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CC0000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47091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1A1F24"/>
                </a:solidFill>
                <a:latin typeface="Aptos"/>
              </a:defRPr>
            </a:pPr>
            <a:r>
              <a:t>Predict the recorded CREDIT class from an applicant profile as a bank decision-support example.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71800"/>
            <a:ext cx="4709160" cy="1078992"/>
          </a:xfrm>
          <a:prstGeom prst="roundRect">
            <a:avLst/>
          </a:prstGeom>
          <a:solidFill>
            <a:srgbClr val="FF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182112"/>
            <a:ext cx="43159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CC0000"/>
                </a:solidFill>
                <a:latin typeface="Aptos"/>
              </a:defRPr>
            </a:pPr>
            <a:r>
              <a:t>Supervised learning: the known CREDIT label teaches the model.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715000" y="1353312"/>
          <a:ext cx="56235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325880"/>
                <a:gridCol w="2880360"/>
              </a:tblGrid>
              <a:tr h="64922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Column</a:t>
                      </a:r>
                    </a:p>
                  </a:txBody>
                  <a:tcPr marL="73152" marR="73152" marT="36576" marB="36576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 marL="73152" marR="73152" marT="36576" marB="36576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 marL="73152" marR="73152" marT="36576" marB="36576">
                    <a:solidFill>
                      <a:srgbClr val="CC0000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OBS#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Exclude from model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DURATION, AGE, Amount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Numeric inputs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Measured quantities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CHK_ACCT, JOB, ...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Category inputs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Codes; one-hot encode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CREDIT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Recorded class 0 or 1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715000" y="4773168"/>
            <a:ext cx="56235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5B6573"/>
                </a:solidFill>
                <a:latin typeface="Aptos"/>
              </a:defRPr>
            </a:pPr>
            <a:r>
              <a:t>Do not translate 0/1 into Good/Bad until a matching data dictionary verifies the mapping.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STEP 2 · SET UP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Import the libraries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98448"/>
            <a:ext cx="5623560" cy="4800600"/>
          </a:xfrm>
          <a:prstGeom prst="round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298448"/>
            <a:ext cx="5138928" cy="4800600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17904"/>
            <a:ext cx="5230368" cy="4370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 Mono"/>
              </a:defRPr>
            </a:pPr>
            <a:r>
              <a:t> 1  import io</a:t>
            </a:r>
            <a:br/>
            <a:r>
              <a:t> 2  from pathlib import Path</a:t>
            </a:r>
            <a:br/>
            <a:r>
              <a:t> 3  import matplotlib.pyplot as plt</a:t>
            </a:r>
            <a:br/>
            <a:r>
              <a:t> 4  import pandas as pd</a:t>
            </a:r>
            <a:br/>
            <a:r>
              <a:t> 5  from sklearn.compose import ColumnTransformer</a:t>
            </a:r>
            <a:br/>
            <a:r>
              <a:t> 6  from sklearn.metrics import (...) </a:t>
            </a:r>
            <a:br/>
            <a:r>
              <a:t> 7  from sklearn.model_selection import train_test_split</a:t>
            </a:r>
            <a:br/>
            <a:r>
              <a:t> 8  from sklearn.pipeline import Pipeline</a:t>
            </a:r>
            <a:br/>
            <a:r>
              <a:t> 9  from sklearn.preprocessing import OneHotEncoder</a:t>
            </a:r>
            <a:br/>
            <a:r>
              <a:t>10  from sklearn.tree import DecisionTreeClassifier, plot_tree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1545336"/>
            <a:ext cx="4645152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1A1F24"/>
                </a:solidFill>
                <a:latin typeface="Aptos"/>
              </a:defRPr>
            </a:pPr>
            <a:r>
              <a:t>1–2  Support uploaded files and local paths.</a:t>
            </a:r>
            <a:br/>
            <a:br/>
            <a:r>
              <a:t>3  Creates charts.</a:t>
            </a:r>
            <a:br/>
            <a:br/>
            <a:r>
              <a:t>4  Loads and summarizes tabular data.</a:t>
            </a:r>
            <a:br/>
            <a:br/>
            <a:r>
              <a:t>5, 8–9  Build a reusable preprocessing-and-model workflow.</a:t>
            </a:r>
            <a:br/>
            <a:br/>
            <a:r>
              <a:t>6  Imports evaluation tools.</a:t>
            </a:r>
            <a:br/>
            <a:br/>
            <a:r>
              <a:t>7  Creates training and testing samples.</a:t>
            </a:r>
            <a:br/>
            <a:br/>
            <a:r>
              <a:t>10  Imports the tree model and plot.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STEP 3 · LOAD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Choose how to load the CSV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98448"/>
            <a:ext cx="5623560" cy="4800600"/>
          </a:xfrm>
          <a:prstGeom prst="round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298448"/>
            <a:ext cx="5138928" cy="4800600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17904"/>
            <a:ext cx="5230368" cy="4370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 Mono"/>
              </a:defRPr>
            </a:pPr>
            <a:r>
              <a:t> 1  raw_url = "https://raw.githubusercontent.com/.../Credit.csv"</a:t>
            </a:r>
            <a:br/>
            <a:r>
              <a:t> 2  UPLOAD_FILE = 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1545336"/>
            <a:ext cx="4645152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1A1F24"/>
                </a:solidFill>
                <a:latin typeface="Aptos"/>
              </a:defRPr>
            </a:pPr>
            <a:r>
              <a:t>1  Stores the direct GitHub address of the CSV.</a:t>
            </a:r>
            <a:br/>
            <a:br/>
            <a:r>
              <a:t>2  False loads from GitHub. Change to True to upload a file in Colab.</a:t>
            </a:r>
            <a:br/>
            <a:br/>
            <a:r>
              <a:t>A local fallback lets the notebook also run beside Credit.csv.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STEP 3 · LOAD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Load from GitHub or upload a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98448"/>
            <a:ext cx="5623560" cy="4800600"/>
          </a:xfrm>
          <a:prstGeom prst="round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298448"/>
            <a:ext cx="5138928" cy="4800600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17904"/>
            <a:ext cx="5230368" cy="4370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 Mono"/>
              </a:defRPr>
            </a:pPr>
            <a:r>
              <a:t> 1  if UPLOAD_FILE:</a:t>
            </a:r>
            <a:br/>
            <a:r>
              <a:t> 2      from google.colab import files</a:t>
            </a:r>
            <a:br/>
            <a:r>
              <a:t> 3      uploaded = files.upload()</a:t>
            </a:r>
            <a:br/>
            <a:r>
              <a:t> 4      df = pd.read_csv(io.BytesIO(...))</a:t>
            </a:r>
            <a:br/>
            <a:r>
              <a:t> 5  else:</a:t>
            </a:r>
            <a:br/>
            <a:r>
              <a:t> 6      df = pd.read_csv(raw_url)</a:t>
            </a:r>
            <a:br/>
            <a:r>
              <a:t> 7  print(f"Dataset shape: {df.shape}")</a:t>
            </a:r>
            <a:br/>
            <a:r>
              <a:t> 8  df.head()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1545336"/>
            <a:ext cx="4645152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1A1F24"/>
                </a:solidFill>
                <a:latin typeface="Aptos"/>
              </a:defRPr>
            </a:pPr>
            <a:r>
              <a:t>1–4  When True, Colab displays a Choose Files button and reads the uploaded bytes.</a:t>
            </a:r>
            <a:br/>
            <a:br/>
            <a:r>
              <a:t>5–6  Otherwise, pandas reads the GitHub CSV.</a:t>
            </a:r>
            <a:br/>
            <a:br/>
            <a:r>
              <a:t>7  Confirms 59 rows × 10 columns.</a:t>
            </a:r>
            <a:br/>
            <a:br/>
            <a:r>
              <a:t>8  Displays the first five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STEP 3 · LOAD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Check the loaded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371600"/>
          <a:ext cx="74066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143000"/>
                <a:gridCol w="1143000"/>
                <a:gridCol w="731520"/>
                <a:gridCol w="1325880"/>
                <a:gridCol w="731520"/>
                <a:gridCol w="640080"/>
                <a:gridCol w="960120"/>
              </a:tblGrid>
              <a:tr h="4953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OBS#</a:t>
                      </a:r>
                    </a:p>
                  </a:txBody>
                  <a:tcPr marL="73152" marR="73152" marT="36576" marB="36576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CHK_ACCT</a:t>
                      </a:r>
                    </a:p>
                  </a:txBody>
                  <a:tcPr marL="73152" marR="73152" marT="36576" marB="36576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DURATION</a:t>
                      </a:r>
                    </a:p>
                  </a:txBody>
                  <a:tcPr marL="73152" marR="73152" marT="36576" marB="36576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AGE</a:t>
                      </a:r>
                    </a:p>
                  </a:txBody>
                  <a:tcPr marL="73152" marR="73152" marT="36576" marB="36576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Amount</a:t>
                      </a:r>
                    </a:p>
                  </a:txBody>
                  <a:tcPr marL="73152" marR="73152" marT="36576" marB="36576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JOB</a:t>
                      </a:r>
                    </a:p>
                  </a:txBody>
                  <a:tcPr marL="73152" marR="73152" marT="36576" marB="36576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...</a:t>
                      </a:r>
                    </a:p>
                  </a:txBody>
                  <a:tcPr marL="73152" marR="73152" marT="36576" marB="36576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CREDIT</a:t>
                      </a:r>
                    </a:p>
                  </a:txBody>
                  <a:tcPr marL="73152" marR="73152" marT="36576" marB="36576">
                    <a:solidFill>
                      <a:srgbClr val="CC000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67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10,034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...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48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10,543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...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49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2,032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...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42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45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30,456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...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36576" marB="36576">
                    <a:solidFill>
                      <a:srgbClr val="F4F5F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24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53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26,455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...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1F24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4663440"/>
            <a:ext cx="10835640" cy="685800"/>
          </a:xfrm>
          <a:prstGeom prst="roundRect">
            <a:avLst/>
          </a:prstGeom>
          <a:solidFill>
            <a:srgbClr val="FF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828032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CC0000"/>
                </a:solidFill>
                <a:latin typeface="Aptos"/>
              </a:defRPr>
            </a:pPr>
            <a:r>
              <a:t>Dataset shape: 59 rows × 10 columns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STEP 4 · INSPECT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Check data quality and class balance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8" name="Picture 7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89888"/>
            <a:ext cx="5897880" cy="29035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157276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CC0000"/>
                </a:solidFill>
                <a:latin typeface="Aptos"/>
              </a:defRPr>
            </a:pPr>
            <a:r>
              <a:t>What do we learn?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10312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F24"/>
                </a:solidFill>
                <a:latin typeface="Aptos"/>
              </a:defRPr>
            </a:pPr>
            <a:r>
              <a:t>•  No missing values are present.</a:t>
            </a:r>
          </a:p>
          <a:p>
            <a:pPr>
              <a:spcAft>
                <a:spcPts val="700"/>
              </a:spcAft>
              <a:defRPr sz="1700">
                <a:solidFill>
                  <a:srgbClr val="1A1F24"/>
                </a:solidFill>
                <a:latin typeface="Aptos"/>
              </a:defRPr>
            </a:pPr>
            <a:r>
              <a:t>•  Class 1 has 45 rows; class 0 has 14.</a:t>
            </a:r>
          </a:p>
          <a:p>
            <a:pPr>
              <a:spcAft>
                <a:spcPts val="700"/>
              </a:spcAft>
              <a:defRPr sz="1700">
                <a:solidFill>
                  <a:srgbClr val="1A1F24"/>
                </a:solidFill>
                <a:latin typeface="Aptos"/>
              </a:defRPr>
            </a:pPr>
            <a:r>
              <a:t>•  A majority-only rule is 76.3% accurate.</a:t>
            </a:r>
          </a:p>
          <a:p>
            <a:pPr>
              <a:spcAft>
                <a:spcPts val="700"/>
              </a:spcAft>
              <a:defRPr sz="1700">
                <a:solidFill>
                  <a:srgbClr val="1A1F24"/>
                </a:solidFill>
                <a:latin typeface="Aptos"/>
              </a:defRPr>
            </a:pPr>
            <a:r>
              <a:t>•  Accuracy alone may hide poor minority-class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4846320"/>
            <a:ext cx="4343400" cy="685800"/>
          </a:xfrm>
          <a:prstGeom prst="roundRect">
            <a:avLst/>
          </a:prstGeom>
          <a:solidFill>
            <a:srgbClr val="FF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4032" y="501091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>
                <a:solidFill>
                  <a:srgbClr val="CC0000"/>
                </a:solidFill>
                <a:latin typeface="Aptos"/>
              </a:defRPr>
            </a:pPr>
            <a:r>
              <a:t>Always compare the model with a baseline.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STEP 5 · PREPARE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Select predictors and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98448"/>
            <a:ext cx="5623560" cy="4800600"/>
          </a:xfrm>
          <a:prstGeom prst="round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298448"/>
            <a:ext cx="5138928" cy="4800600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17904"/>
            <a:ext cx="5230368" cy="4370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 Mono"/>
              </a:defRPr>
            </a:pPr>
            <a:r>
              <a:t> 1  id_column = "OBS#"</a:t>
            </a:r>
            <a:br/>
            <a:r>
              <a:t> 2  target_column = "CREDIT"</a:t>
            </a:r>
            <a:br/>
            <a:r>
              <a:t> 3  feature_columns = [</a:t>
            </a:r>
            <a:br/>
            <a:r>
              <a:t> 4      c for c in df.columns</a:t>
            </a:r>
            <a:br/>
            <a:r>
              <a:t> 5      if c not in [id_column, target_column]</a:t>
            </a:r>
            <a:br/>
            <a:r>
              <a:t> 6  ]</a:t>
            </a:r>
            <a:br/>
            <a:r>
              <a:t> 7  X = df[feature_columns]</a:t>
            </a:r>
            <a:br/>
            <a:r>
              <a:t> 8  y = df[target_column]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1545336"/>
            <a:ext cx="4645152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1A1F24"/>
                </a:solidFill>
                <a:latin typeface="Aptos"/>
              </a:defRPr>
            </a:pPr>
            <a:r>
              <a:t>1  Identifies the row ID, which is not a useful applicant characteristic.</a:t>
            </a:r>
            <a:br/>
            <a:br/>
            <a:r>
              <a:t>2  Identifies the outcome to predict.</a:t>
            </a:r>
            <a:br/>
            <a:br/>
            <a:r>
              <a:t>3–6  Keeps all remaining columns as predictors.</a:t>
            </a:r>
            <a:br/>
            <a:br/>
            <a:r>
              <a:t>7  Creates the feature table X.</a:t>
            </a:r>
            <a:br/>
            <a:br/>
            <a:r>
              <a:t>8  Creates the target vector 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STEP 5 · PREPARE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One-hot encode category codes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98448"/>
            <a:ext cx="5623560" cy="4800600"/>
          </a:xfrm>
          <a:prstGeom prst="round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298448"/>
            <a:ext cx="5138928" cy="4800600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17904"/>
            <a:ext cx="5230368" cy="4370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 Mono"/>
              </a:defRPr>
            </a:pPr>
            <a:r>
              <a:t> 1  preprocessor = ColumnTransformer([</a:t>
            </a:r>
            <a:br/>
            <a:r>
              <a:t> 2    ("category", OneHotEncoder(</a:t>
            </a:r>
            <a:br/>
            <a:r>
              <a:t> 3        handle_unknown="ignore"), categorical_columns),</a:t>
            </a:r>
            <a:br/>
            <a:r>
              <a:t> 4    ("number", "passthrough", numeric_columns)</a:t>
            </a:r>
            <a:br/>
            <a:r>
              <a:t> 5  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1545336"/>
            <a:ext cx="4645152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1A1F24"/>
                </a:solidFill>
                <a:latin typeface="Aptos"/>
              </a:defRPr>
            </a:pPr>
            <a:r>
              <a:t>1  Creates one coordinated transformation.</a:t>
            </a:r>
            <a:br/>
            <a:br/>
            <a:r>
              <a:t>2–3  Makes a separate 0/1 indicator for each category. Unknown future codes will not crash prediction.</a:t>
            </a:r>
            <a:br/>
            <a:br/>
            <a:r>
              <a:t>4  Leaves DURATION, AGE, and Amount numeric.</a:t>
            </a:r>
            <a:br/>
            <a:br/>
            <a:r>
              <a:t>Decision trees do not need feature scaling.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STEP 6 · SPLIT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Create an 80/20 train-test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98448"/>
            <a:ext cx="5623560" cy="4800600"/>
          </a:xfrm>
          <a:prstGeom prst="round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298448"/>
            <a:ext cx="5138928" cy="4800600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17904"/>
            <a:ext cx="5230368" cy="4370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 Mono"/>
              </a:defRPr>
            </a:pPr>
            <a:r>
              <a:t> 1  X_train, X_test, y_train, y_test = train_test_split(</a:t>
            </a:r>
            <a:br/>
            <a:r>
              <a:t> 2      X, y,</a:t>
            </a:r>
            <a:br/>
            <a:r>
              <a:t> 3      test_size=0.20,</a:t>
            </a:r>
            <a:br/>
            <a:r>
              <a:t> 4      random_state=42,</a:t>
            </a:r>
            <a:br/>
            <a:r>
              <a:t> 5      stratify=y</a:t>
            </a:r>
            <a:br/>
            <a:r>
              <a:t> 6  )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1545336"/>
            <a:ext cx="4645152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1A1F24"/>
                </a:solidFill>
                <a:latin typeface="Aptos"/>
              </a:defRPr>
            </a:pPr>
            <a:r>
              <a:t>1–2  Separates predictors and labels together.</a:t>
            </a:r>
            <a:br/>
            <a:br/>
            <a:r>
              <a:t>3  Reserves 20% for final testing.</a:t>
            </a:r>
            <a:br/>
            <a:br/>
            <a:r>
              <a:t>4  Makes the same split reproducible.</a:t>
            </a:r>
            <a:br/>
            <a:br/>
            <a:r>
              <a:t>5  Preserves class proportions as closely as possible.</a:t>
            </a:r>
            <a:br/>
            <a:br/>
            <a:r>
              <a:t>Result: 47 training rows and 12 testing rows.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STEP 7 · TRAIN THE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Fit a readable entropy-based 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98448"/>
            <a:ext cx="5623560" cy="4800600"/>
          </a:xfrm>
          <a:prstGeom prst="round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298448"/>
            <a:ext cx="5138928" cy="4800600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17904"/>
            <a:ext cx="5230368" cy="4370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 Mono"/>
              </a:defRPr>
            </a:pPr>
            <a:r>
              <a:t> 1  model = Pipeline([</a:t>
            </a:r>
            <a:br/>
            <a:r>
              <a:t> 2    ("preprocess", preprocessor),</a:t>
            </a:r>
            <a:br/>
            <a:r>
              <a:t> 3    ("tree", DecisionTreeClassifier(</a:t>
            </a:r>
            <a:br/>
            <a:r>
              <a:t> 4        criterion="entropy",</a:t>
            </a:r>
            <a:br/>
            <a:r>
              <a:t> 5        max_depth=3,</a:t>
            </a:r>
            <a:br/>
            <a:r>
              <a:t> 6        random_state=42</a:t>
            </a:r>
            <a:br/>
            <a:r>
              <a:t> 7    ))</a:t>
            </a:r>
            <a:br/>
            <a:r>
              <a:t> 8  ])</a:t>
            </a:r>
            <a:br/>
            <a:r>
              <a:t> 9  model.fit(X_train, y_train)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1545336"/>
            <a:ext cx="4645152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1A1F24"/>
                </a:solidFill>
                <a:latin typeface="Aptos"/>
              </a:defRPr>
            </a:pPr>
            <a:r>
              <a:t>1–2  Applies identical preprocessing during training and prediction.</a:t>
            </a:r>
            <a:br/>
            <a:br/>
            <a:r>
              <a:t>3  Creates the classifier.</a:t>
            </a:r>
            <a:br/>
            <a:br/>
            <a:r>
              <a:t>4  Chooses splits using entropy reduction.</a:t>
            </a:r>
            <a:br/>
            <a:br/>
            <a:r>
              <a:t>5  Limits depth for readability and reduces overfitting.</a:t>
            </a:r>
            <a:br/>
            <a:br/>
            <a:r>
              <a:t>6  Makes tie-breaking reproducible.</a:t>
            </a:r>
            <a:br/>
            <a:br/>
            <a:r>
              <a:t>9  Learns the tree from the training rows.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STEP 7 · TRAIN THE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How does a decision tree choose a split?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685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CC000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17320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1A1F24"/>
                </a:solidFill>
                <a:latin typeface="Aptos"/>
              </a:defRPr>
            </a:pPr>
            <a:r>
              <a:t>Try candidate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20240"/>
            <a:ext cx="4343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5B6573"/>
                </a:solidFill>
                <a:latin typeface="Aptos"/>
              </a:defRPr>
            </a:pPr>
            <a:r>
              <a:t>Example: DURATION ≤ 21?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417320"/>
            <a:ext cx="685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CC000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599" y="1417320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1A1F24"/>
                </a:solidFill>
                <a:latin typeface="Aptos"/>
              </a:defRPr>
            </a:pPr>
            <a:r>
              <a:t>Measure class mixture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599" y="1920240"/>
            <a:ext cx="4343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5B6573"/>
                </a:solidFill>
                <a:latin typeface="Aptos"/>
              </a:defRPr>
            </a:pPr>
            <a:r>
              <a:t>Entropy is lower when a node is purer.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685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CC000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566160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1A1F24"/>
                </a:solidFill>
                <a:latin typeface="Aptos"/>
              </a:defRPr>
            </a:pPr>
            <a:r>
              <a:t>Choose the best 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069080"/>
            <a:ext cx="4343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5B6573"/>
                </a:solidFill>
                <a:latin typeface="Aptos"/>
              </a:defRPr>
            </a:pPr>
            <a:r>
              <a:t>Prefer the split with the largest information gain.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3566160"/>
            <a:ext cx="685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CC000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599" y="3566160"/>
            <a:ext cx="4343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1A1F24"/>
                </a:solidFill>
                <a:latin typeface="Aptos"/>
              </a:defRPr>
            </a:pPr>
            <a:r>
              <a:t>Repeat on each 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599" y="4069080"/>
            <a:ext cx="4343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5B6573"/>
                </a:solidFill>
                <a:latin typeface="Aptos"/>
              </a:defRPr>
            </a:pPr>
            <a:r>
              <a:t>Stop at max_depth = 3 in this demo.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23560"/>
            <a:ext cx="10698480" cy="438912"/>
          </a:xfrm>
          <a:prstGeom prst="roundRect">
            <a:avLst/>
          </a:prstGeom>
          <a:solidFill>
            <a:srgbClr val="FF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715000"/>
            <a:ext cx="10287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CC0000"/>
                </a:solidFill>
                <a:latin typeface="Aptos"/>
              </a:defRPr>
            </a:pPr>
            <a:r>
              <a:t>Entropy is a split criterion—not a measure of business fairness or real-world value.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STEP 8 ·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Predict the holdout rows and calculate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98448"/>
            <a:ext cx="5623560" cy="4800600"/>
          </a:xfrm>
          <a:prstGeom prst="round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298448"/>
            <a:ext cx="5138928" cy="4800600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17904"/>
            <a:ext cx="5230368" cy="4370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 Mono"/>
              </a:defRPr>
            </a:pPr>
            <a:r>
              <a:t> 1  y_pred = model.predict(X_test)</a:t>
            </a:r>
            <a:br/>
            <a:r>
              <a:t> 2  accuracy_score(y_test, y_pred)</a:t>
            </a:r>
            <a:br/>
            <a:r>
              <a:t> 3  balanced_accuracy_score(y_test, y_pred)</a:t>
            </a:r>
            <a:br/>
            <a:r>
              <a:t> 4  classification_report(y_test, y_pred)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1545336"/>
            <a:ext cx="4645152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1A1F24"/>
                </a:solidFill>
                <a:latin typeface="Aptos"/>
              </a:defRPr>
            </a:pPr>
            <a:r>
              <a:t>1  Applies preprocessing and the fitted tree to unseen test rows.</a:t>
            </a:r>
            <a:br/>
            <a:br/>
            <a:r>
              <a:t>2  Calculates the overall correct share.</a:t>
            </a:r>
            <a:br/>
            <a:br/>
            <a:r>
              <a:t>3  Averages recall across the two classes.</a:t>
            </a:r>
            <a:br/>
            <a:br/>
            <a:r>
              <a:t>4  Reports precision, recall, and F1 for each class.</a:t>
            </a:r>
            <a:br/>
            <a:br/>
            <a:r>
              <a:t>Use several views; no single metric tells the whole story.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STEP 8 ·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Holdout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63040"/>
            <a:ext cx="3246120" cy="1600200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1">
                <a:solidFill>
                  <a:srgbClr val="5B6573"/>
                </a:solidFill>
                <a:latin typeface="Aptos"/>
              </a:defRPr>
            </a:pPr>
            <a:r>
              <a:t>Test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2788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900" b="1">
                <a:solidFill>
                  <a:srgbClr val="CC0000"/>
                </a:solidFill>
                <a:latin typeface="Aptos"/>
              </a:defRPr>
            </a:pPr>
            <a:r>
              <a:t>0.667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463040"/>
            <a:ext cx="3246120" cy="1600200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73736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1">
                <a:solidFill>
                  <a:srgbClr val="5B6573"/>
                </a:solidFill>
                <a:latin typeface="Aptos"/>
              </a:defRPr>
            </a:pPr>
            <a:r>
              <a:t>Balanced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148840"/>
            <a:ext cx="2788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900" b="1">
                <a:solidFill>
                  <a:srgbClr val="CC0000"/>
                </a:solidFill>
                <a:latin typeface="Aptos"/>
              </a:defRPr>
            </a:pPr>
            <a:r>
              <a:t>0.444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8744" y="1463040"/>
            <a:ext cx="3246120" cy="1600200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1737360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1">
                <a:solidFill>
                  <a:srgbClr val="5B6573"/>
                </a:solidFill>
                <a:latin typeface="Aptos"/>
              </a:defRPr>
            </a:pPr>
            <a:r>
              <a:t>Majority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2148840"/>
            <a:ext cx="2788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900" b="1">
                <a:solidFill>
                  <a:srgbClr val="CC0000"/>
                </a:solidFill>
                <a:latin typeface="Aptos"/>
              </a:defRPr>
            </a:pPr>
            <a:r>
              <a:t>0.766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20440"/>
            <a:ext cx="10698480" cy="1325880"/>
          </a:xfrm>
          <a:prstGeom prst="roundRect">
            <a:avLst/>
          </a:prstGeom>
          <a:solidFill>
            <a:srgbClr val="FF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767328"/>
            <a:ext cx="1019556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CC0000"/>
                </a:solidFill>
                <a:latin typeface="Aptos"/>
              </a:defRPr>
            </a:pPr>
            <a:r>
              <a:t>The tree's 66.7% accuracy is below the 76.6% training baseline. Balanced accuracy is also low. The correct conclusion is not ‘success’—it is that this tiny sample does not support a reliable model.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1A1F24"/>
                </a:solidFill>
                <a:latin typeface="Aptos"/>
              </a:defRPr>
            </a:pPr>
            <a:r>
              <a:t>A negative result is still a valuable modeling result when it prevents false confidence.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STEP 8 ·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Draw the confusion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98448"/>
            <a:ext cx="5623560" cy="4800600"/>
          </a:xfrm>
          <a:prstGeom prst="round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298448"/>
            <a:ext cx="5138928" cy="4800600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17904"/>
            <a:ext cx="5230368" cy="4370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 Mono"/>
              </a:defRPr>
            </a:pPr>
            <a:r>
              <a:t> 1  ConfusionMatrixDisplay.from_predictions(</a:t>
            </a:r>
            <a:br/>
            <a:r>
              <a:t> 2      y_test, y_pred,</a:t>
            </a:r>
            <a:br/>
            <a:r>
              <a:t> 3      labels=[0, 1],</a:t>
            </a:r>
            <a:br/>
            <a:r>
              <a:t> 4      cmap="Reds",</a:t>
            </a:r>
            <a:br/>
            <a:r>
              <a:t> 5      colorbar=False</a:t>
            </a:r>
            <a:br/>
            <a:r>
              <a:t> 6  )</a:t>
            </a:r>
            <a:br/>
            <a:r>
              <a:t> 7  plt.show()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1545336"/>
            <a:ext cx="4645152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1A1F24"/>
                </a:solidFill>
                <a:latin typeface="Aptos"/>
              </a:defRPr>
            </a:pPr>
            <a:r>
              <a:t>1–2  Compares actual and predicted classes.</a:t>
            </a:r>
            <a:br/>
            <a:br/>
            <a:r>
              <a:t>3  Fixes a clear class order.</a:t>
            </a:r>
            <a:br/>
            <a:br/>
            <a:r>
              <a:t>4–5  Controls the chart appearance.</a:t>
            </a:r>
            <a:br/>
            <a:br/>
            <a:r>
              <a:t>6–7  Completes and displays the chart.</a:t>
            </a:r>
            <a:br/>
            <a:br/>
            <a:r>
              <a:t>Rows are actual classes; columns are predicted classes.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STEP 8 · EVALUATE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Where did the model make errors?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715000" cy="45288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12280" y="15544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CC0000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084831"/>
            <a:ext cx="4251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F24"/>
                </a:solidFill>
                <a:latin typeface="Aptos"/>
              </a:defRPr>
            </a:pPr>
            <a:r>
              <a:t>•  8 class-1 rows are correctly identified.</a:t>
            </a:r>
          </a:p>
          <a:p>
            <a:pPr>
              <a:spcAft>
                <a:spcPts val="700"/>
              </a:spcAft>
              <a:defRPr sz="1700">
                <a:solidFill>
                  <a:srgbClr val="1A1F24"/>
                </a:solidFill>
                <a:latin typeface="Aptos"/>
              </a:defRPr>
            </a:pPr>
            <a:r>
              <a:t>•  1 class-1 row is predicted as class 0.</a:t>
            </a:r>
          </a:p>
          <a:p>
            <a:pPr>
              <a:spcAft>
                <a:spcPts val="700"/>
              </a:spcAft>
              <a:defRPr sz="1700">
                <a:solidFill>
                  <a:srgbClr val="1A1F24"/>
                </a:solidFill>
                <a:latin typeface="Aptos"/>
              </a:defRPr>
            </a:pPr>
            <a:r>
              <a:t>•  All 3 class-0 rows are missed.</a:t>
            </a:r>
          </a:p>
          <a:p>
            <a:pPr>
              <a:spcAft>
                <a:spcPts val="700"/>
              </a:spcAft>
              <a:defRPr sz="1700">
                <a:solidFill>
                  <a:srgbClr val="1A1F24"/>
                </a:solidFill>
                <a:latin typeface="Aptos"/>
              </a:defRPr>
            </a:pPr>
            <a:r>
              <a:t>•  Overall accuracy hides that class-0 recall is 0%.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4800600"/>
            <a:ext cx="4343400" cy="804672"/>
          </a:xfrm>
          <a:prstGeom prst="roundRect">
            <a:avLst/>
          </a:prstGeom>
          <a:solidFill>
            <a:srgbClr val="FF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2" y="4965192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CC0000"/>
                </a:solidFill>
                <a:latin typeface="Aptos"/>
              </a:defRPr>
            </a:pPr>
            <a:r>
              <a:t>Business error costs require the verified class mapping.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STEP 9 · INTERPRET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Visualize the fitted 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98448"/>
            <a:ext cx="5623560" cy="4800600"/>
          </a:xfrm>
          <a:prstGeom prst="round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298448"/>
            <a:ext cx="5138928" cy="4800600"/>
          </a:xfrm>
          <a:prstGeom prst="roundRect">
            <a:avLst/>
          </a:prstGeom>
          <a:solidFill>
            <a:srgbClr val="F4F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17904"/>
            <a:ext cx="5230368" cy="4370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 Mono"/>
              </a:defRPr>
            </a:pPr>
            <a:r>
              <a:t> 1  tree_model = model.named_steps["tree"]</a:t>
            </a:r>
            <a:br/>
            <a:r>
              <a:t> 2  feature_names = model.named_steps["preprocess"]</a:t>
            </a:r>
            <a:br/>
            <a:r>
              <a:t> 3      .get_feature_names_out()</a:t>
            </a:r>
            <a:br/>
            <a:r>
              <a:t> 4  plot_tree(tree_model,</a:t>
            </a:r>
            <a:br/>
            <a:r>
              <a:t> 5      feature_names=feature_names,</a:t>
            </a:r>
            <a:br/>
            <a:r>
              <a:t> 6      class_names=["0", "1"],</a:t>
            </a:r>
            <a:br/>
            <a:r>
              <a:t> 7      filled=True, rounded=True</a:t>
            </a:r>
            <a:br/>
            <a:r>
              <a:t> 8  )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1545336"/>
            <a:ext cx="4645152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1A1F24"/>
                </a:solidFill>
                <a:latin typeface="Aptos"/>
              </a:defRPr>
            </a:pPr>
            <a:r>
              <a:t>1  Extracts the fitted classifier from the pipeline.</a:t>
            </a:r>
            <a:br/>
            <a:br/>
            <a:r>
              <a:t>2–3  Gets the names created by one-hot encoding.</a:t>
            </a:r>
            <a:br/>
            <a:br/>
            <a:r>
              <a:t>4–8  Draws the nodes, questions, class counts, and predicted class.</a:t>
            </a:r>
            <a:br/>
            <a:br/>
            <a:r>
              <a:t>Follow left when the condition is true and right when it is false.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STEP 9 · INTERPRET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Read the fitted decision 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19</a:t>
            </a:r>
          </a:p>
        </p:txBody>
      </p:sp>
      <p:pic>
        <p:nvPicPr>
          <p:cNvPr id="8" name="Picture 7" descr="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972800" cy="53149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STEP 9 · INTERPRET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What does each node tell us?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CC0000"/>
                </a:solidFill>
                <a:latin typeface="Aptos"/>
              </a:defRPr>
            </a:pPr>
            <a:r>
              <a:t>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389888"/>
            <a:ext cx="8595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1A1F24"/>
                </a:solidFill>
                <a:latin typeface="Aptos"/>
              </a:defRPr>
            </a:pPr>
            <a:r>
              <a:t>The question used to route a row left or right.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67712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CC0000"/>
                </a:solidFill>
                <a:latin typeface="Aptos"/>
              </a:defRPr>
            </a:pPr>
            <a:r>
              <a:t>Entropy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267712"/>
            <a:ext cx="8595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1A1F24"/>
                </a:solidFill>
                <a:latin typeface="Aptos"/>
              </a:defRPr>
            </a:pPr>
            <a:r>
              <a:t>The node's class mixture; 0 means completely pure.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45536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CC0000"/>
                </a:solidFill>
                <a:latin typeface="Aptos"/>
              </a:defRPr>
            </a:pPr>
            <a:r>
              <a:t>Samples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145536"/>
            <a:ext cx="8595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1A1F24"/>
                </a:solidFill>
                <a:latin typeface="Aptos"/>
              </a:defRPr>
            </a:pPr>
            <a:r>
              <a:t>How many training rows reached the node.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23360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CC0000"/>
                </a:solidFill>
                <a:latin typeface="Aptos"/>
              </a:defRPr>
            </a:pPr>
            <a:r>
              <a:t>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4023360"/>
            <a:ext cx="8595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1A1F24"/>
                </a:solidFill>
                <a:latin typeface="Aptos"/>
              </a:defRPr>
            </a:pPr>
            <a:r>
              <a:t>Counts of class 0 and class 1 at the node.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01183"/>
            <a:ext cx="1600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CC0000"/>
                </a:solidFill>
                <a:latin typeface="Aptos"/>
              </a:defRPr>
            </a:pPr>
            <a:r>
              <a:t>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901183"/>
            <a:ext cx="8595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1A1F24"/>
                </a:solidFill>
                <a:latin typeface="Aptos"/>
              </a:defRPr>
            </a:pPr>
            <a:r>
              <a:t>The prediction made at that node or leaf.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623560"/>
            <a:ext cx="10561320" cy="429768"/>
          </a:xfrm>
          <a:prstGeom prst="roundRect">
            <a:avLst/>
          </a:prstGeom>
          <a:solidFill>
            <a:srgbClr val="FF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5715000"/>
            <a:ext cx="10149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CC0000"/>
                </a:solidFill>
                <a:latin typeface="Aptos"/>
              </a:defRPr>
            </a:pPr>
            <a:r>
              <a:t>A readable rule can still be unstable, inaccurate, or inappropriate for deployment.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STEP 10 · INTERPRET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Which features did this tree use?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21</a:t>
            </a:r>
          </a:p>
        </p:txBody>
      </p:sp>
      <p:pic>
        <p:nvPicPr>
          <p:cNvPr id="8" name="Picture 7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5897880" cy="30850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157276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CC0000"/>
                </a:solidFill>
                <a:latin typeface="Aptos"/>
              </a:defRPr>
            </a:pPr>
            <a:r>
              <a:t>Use importance carefully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03120"/>
            <a:ext cx="43891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F24"/>
                </a:solidFill>
                <a:latin typeface="Aptos"/>
              </a:defRPr>
            </a:pPr>
            <a:r>
              <a:t>•  Importance sums impurity reduction in this tree.</a:t>
            </a:r>
          </a:p>
          <a:p>
            <a:pPr>
              <a:spcAft>
                <a:spcPts val="700"/>
              </a:spcAft>
              <a:defRPr sz="1700">
                <a:solidFill>
                  <a:srgbClr val="1A1F24"/>
                </a:solidFill>
                <a:latin typeface="Aptos"/>
              </a:defRPr>
            </a:pPr>
            <a:r>
              <a:t>•  Unused features receive zero importance.</a:t>
            </a:r>
          </a:p>
          <a:p>
            <a:pPr>
              <a:spcAft>
                <a:spcPts val="700"/>
              </a:spcAft>
              <a:defRPr sz="1700">
                <a:solidFill>
                  <a:srgbClr val="1A1F24"/>
                </a:solidFill>
                <a:latin typeface="Aptos"/>
              </a:defRPr>
            </a:pPr>
            <a:r>
              <a:t>•  Correlated inputs can share or shift importance.</a:t>
            </a:r>
          </a:p>
          <a:p>
            <a:pPr>
              <a:spcAft>
                <a:spcPts val="700"/>
              </a:spcAft>
              <a:defRPr sz="1700">
                <a:solidFill>
                  <a:srgbClr val="1A1F24"/>
                </a:solidFill>
                <a:latin typeface="Aptos"/>
              </a:defRPr>
            </a:pPr>
            <a:r>
              <a:t>•  Importance does not prove causality or fairness.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STEP 11 ·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Can class weighting change the errors?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53312"/>
            <a:ext cx="4983480" cy="3337560"/>
          </a:xfrm>
          <a:prstGeom prst="roundRect">
            <a:avLst/>
          </a:prstGeom>
          <a:solidFill>
            <a:srgbClr val="1A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591056"/>
            <a:ext cx="4553712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 Mono"/>
              </a:defRPr>
            </a:pPr>
            <a:r>
              <a:t>DecisionTreeClassifier(</a:t>
            </a:r>
            <a:br/>
            <a:r>
              <a:t>    criterion="entropy",</a:t>
            </a:r>
            <a:br/>
            <a:r>
              <a:t>    max_depth=3,</a:t>
            </a:r>
            <a:br/>
            <a:r>
              <a:t>    class_weight="balanced",</a:t>
            </a:r>
            <a:br/>
            <a:r>
              <a:t>    random_state=42</a:t>
            </a:r>
            <a:br/>
            <a: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417320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CC0000"/>
                </a:solidFill>
                <a:latin typeface="Aptos"/>
              </a:defRPr>
            </a:pPr>
            <a:r>
              <a:t>Why try 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9659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F24"/>
                </a:solidFill>
                <a:latin typeface="Aptos"/>
              </a:defRPr>
            </a:pPr>
            <a:r>
              <a:t>•  Class 0 is much less frequent than class 1.</a:t>
            </a:r>
          </a:p>
          <a:p>
            <a:pPr>
              <a:spcAft>
                <a:spcPts val="700"/>
              </a:spcAft>
              <a:defRPr sz="1700">
                <a:solidFill>
                  <a:srgbClr val="1A1F24"/>
                </a:solidFill>
                <a:latin typeface="Aptos"/>
              </a:defRPr>
            </a:pPr>
            <a:r>
              <a:t>•  Balanced weights make minority-class mistakes matter more during training.</a:t>
            </a:r>
          </a:p>
          <a:p>
            <a:pPr>
              <a:spcAft>
                <a:spcPts val="700"/>
              </a:spcAft>
              <a:defRPr sz="1700">
                <a:solidFill>
                  <a:srgbClr val="1A1F24"/>
                </a:solidFill>
                <a:latin typeface="Aptos"/>
              </a:defRPr>
            </a:pPr>
            <a:r>
              <a:t>•  The tradeoff may shift—not disappear.</a:t>
            </a:r>
          </a:p>
          <a:p>
            <a:pPr>
              <a:spcAft>
                <a:spcPts val="700"/>
              </a:spcAft>
              <a:defRPr sz="1700">
                <a:solidFill>
                  <a:srgbClr val="1A1F24"/>
                </a:solidFill>
                <a:latin typeface="Aptos"/>
              </a:defRPr>
            </a:pPr>
            <a:r>
              <a:t>•  Choose using business costs and stronger validation, not one tiny test split.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02352"/>
            <a:ext cx="10881360" cy="566928"/>
          </a:xfrm>
          <a:prstGeom prst="roundRect">
            <a:avLst/>
          </a:prstGeom>
          <a:solidFill>
            <a:srgbClr val="FF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5239512"/>
            <a:ext cx="10469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CC0000"/>
                </a:solidFill>
                <a:latin typeface="Aptos"/>
              </a:defRPr>
            </a:pPr>
            <a:r>
              <a:t>Experimentation is for learning; it does not turn this dataset into a deployable lending model.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STEP 12 · DISCUSS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What should we conclude?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25880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CC0000"/>
                </a:solidFill>
                <a:latin typeface="Aptos"/>
              </a:defRPr>
            </a:pPr>
            <a:r>
              <a:t>Small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325880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1A1F24"/>
                </a:solidFill>
                <a:latin typeface="Aptos"/>
              </a:defRPr>
            </a:pPr>
            <a:r>
              <a:t>59 rows and only 12 test cases make results unstable.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58568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CC0000"/>
                </a:solidFill>
                <a:latin typeface="Aptos"/>
              </a:defRPr>
            </a:pPr>
            <a:r>
              <a:t>Imbalance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258568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1A1F24"/>
                </a:solidFill>
                <a:latin typeface="Aptos"/>
              </a:defRPr>
            </a:pPr>
            <a:r>
              <a:t>The majority class dominates ordinary accuracy.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91256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CC0000"/>
                </a:solidFill>
                <a:latin typeface="Aptos"/>
              </a:defRPr>
            </a:pPr>
            <a:r>
              <a:t>Unknown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191256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1A1F24"/>
                </a:solidFill>
                <a:latin typeface="Aptos"/>
              </a:defRPr>
            </a:pPr>
            <a:r>
              <a:t>The CSV does not verify which value means Good or Bad.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23944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CC0000"/>
                </a:solidFill>
                <a:latin typeface="Aptos"/>
              </a:defRPr>
            </a:pPr>
            <a:r>
              <a:t>Code mismatch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4123944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1A1F24"/>
                </a:solidFill>
                <a:latin typeface="Aptos"/>
              </a:defRPr>
            </a:pPr>
            <a:r>
              <a:t>Legacy category descriptions do not match the CSV coding.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56632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CC0000"/>
                </a:solidFill>
                <a:latin typeface="Aptos"/>
              </a:defRPr>
            </a:pPr>
            <a:r>
              <a:t>High-impact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5056632"/>
            <a:ext cx="8321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1A1F24"/>
                </a:solidFill>
                <a:latin typeface="Aptos"/>
              </a:defRPr>
            </a:pPr>
            <a:r>
              <a:t>Real lending requires fairness, compliance, monitoring, and far stronger validation.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870448"/>
            <a:ext cx="10561320" cy="2286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CC0000"/>
                </a:solidFill>
                <a:latin typeface="Aptos"/>
              </a:defRPr>
            </a:pPr>
            <a:r>
              <a:t>GENERAL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73152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1A1F24"/>
                </a:solidFill>
                <a:latin typeface="Aptos"/>
              </a:defRPr>
            </a:pPr>
            <a:r>
              <a:t>A repeatable classification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CC000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1A1F24"/>
                </a:solidFill>
                <a:latin typeface="Aptos"/>
              </a:defRPr>
            </a:pPr>
            <a:r>
              <a:t>Frame the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67712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5B6573"/>
                </a:solidFill>
                <a:latin typeface="Aptos"/>
              </a:defRPr>
            </a:pPr>
            <a:r>
              <a:t>Define the target, decisions, and error costs.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2724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CC000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2724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1A1F24"/>
                </a:solidFill>
                <a:latin typeface="Aptos"/>
              </a:defRPr>
            </a:pPr>
            <a:r>
              <a:t>Audit the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5B6573"/>
                </a:solidFill>
                <a:latin typeface="Aptos"/>
              </a:defRPr>
            </a:pPr>
            <a:r>
              <a:t>Check meaning, quality, leakage, and class balance.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2569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CC000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2569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1A1F24"/>
                </a:solidFill>
                <a:latin typeface="Aptos"/>
              </a:defRPr>
            </a:pPr>
            <a:r>
              <a:t>Prepare and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64608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5B6573"/>
                </a:solidFill>
                <a:latin typeface="Aptos"/>
              </a:defRPr>
            </a:pPr>
            <a:r>
              <a:t>Fit preprocessing only through a reproducible pipeline.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82880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CC000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8288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1A1F24"/>
                </a:solidFill>
                <a:latin typeface="Aptos"/>
              </a:defRPr>
            </a:pPr>
            <a:r>
              <a:t>Train and 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267712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5B6573"/>
                </a:solidFill>
                <a:latin typeface="Aptos"/>
              </a:defRPr>
            </a:pPr>
            <a:r>
              <a:t>Control complexity; inspect rules and assumptions.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12724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CC000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12724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1A1F24"/>
                </a:solidFill>
                <a:latin typeface="Aptos"/>
              </a:defRPr>
            </a:pPr>
            <a:r>
              <a:t>Evaluate honestly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566160"/>
            <a:ext cx="4206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5B6573"/>
                </a:solidFill>
                <a:latin typeface="Aptos"/>
              </a:defRPr>
            </a:pPr>
            <a:r>
              <a:t>Use baselines, class-aware metrics, and stronger validation.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>
                <a:solidFill>
                  <a:srgbClr val="1A1F24"/>
                </a:solidFill>
                <a:latin typeface="Aptos"/>
              </a:defRPr>
            </a:pPr>
            <a:r>
              <a:t>A classification model is valuable only when its predictions support a valid, responsible decision.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CC0000"/>
                </a:solidFill>
                <a:latin typeface="Aptos"/>
              </a:defRPr>
            </a:pPr>
            <a:r>
              <a:t>TEACHING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2648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1A1F24"/>
                </a:solidFill>
                <a:latin typeface="Aptos"/>
              </a:defRPr>
            </a:pPr>
            <a:r>
              <a:t>Run the demo in Google Colab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9672"/>
            <a:ext cx="10972800" cy="13716"/>
          </a:xfrm>
          <a:prstGeom prst="rect">
            <a:avLst/>
          </a:prstGeom>
          <a:solidFill>
            <a:srgbClr val="D8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65392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5B6573"/>
                </a:solidFill>
                <a:latin typeface="Aptos"/>
              </a:defRPr>
            </a:pPr>
            <a:r>
              <a:t>Hands-on Decision Tree Analysis 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47104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B6573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F24"/>
                </a:solidFill>
                <a:latin typeface="Aptos"/>
              </a:defRPr>
            </a:pPr>
            <a:r>
              <a:t>•  Open the notebook using the Colab link below.</a:t>
            </a:r>
          </a:p>
          <a:p>
            <a:pPr>
              <a:spcAft>
                <a:spcPts val="700"/>
              </a:spcAft>
              <a:defRPr sz="1800">
                <a:solidFill>
                  <a:srgbClr val="1A1F24"/>
                </a:solidFill>
                <a:latin typeface="Aptos"/>
              </a:defRPr>
            </a:pPr>
            <a:r>
              <a:t>•  Keep UPLOAD_FILE = False to read from GitHub, or change it to True to upload Credit.csv.</a:t>
            </a:r>
          </a:p>
          <a:p>
            <a:pPr>
              <a:spcAft>
                <a:spcPts val="700"/>
              </a:spcAft>
              <a:defRPr sz="1800">
                <a:solidFill>
                  <a:srgbClr val="1A1F24"/>
                </a:solidFill>
                <a:latin typeface="Aptos"/>
              </a:defRPr>
            </a:pPr>
            <a:r>
              <a:t>•  Select Runtime → Run all.</a:t>
            </a:r>
          </a:p>
          <a:p>
            <a:pPr>
              <a:spcAft>
                <a:spcPts val="700"/>
              </a:spcAft>
              <a:defRPr sz="1800">
                <a:solidFill>
                  <a:srgbClr val="1A1F24"/>
                </a:solidFill>
                <a:latin typeface="Aptos"/>
              </a:defRPr>
            </a:pPr>
            <a:r>
              <a:t>•  Use File → Save a copy in Drive before editing or sharing with students.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94760"/>
            <a:ext cx="10515600" cy="1005840"/>
          </a:xfrm>
          <a:prstGeom prst="roundRect">
            <a:avLst/>
          </a:prstGeom>
          <a:solidFill>
            <a:srgbClr val="FF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968496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CC0000"/>
                </a:solidFill>
                <a:latin typeface="Aptos"/>
              </a:defRPr>
            </a:pPr>
            <a:r>
              <a:t>OPEN THE COLAB NOTEBOOK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288536"/>
            <a:ext cx="9966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1A1F24"/>
                </a:solidFill>
                <a:latin typeface="Aptos"/>
              </a:defRPr>
            </a:pPr>
            <a:r>
              <a:t>https://colab.research.google.com/github/mojiahui777/ba_course/blob/main/decision_tree_credit_risk_demo.ipynb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3036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1A1F24"/>
                </a:solidFill>
                <a:latin typeface="Aptos"/>
              </a:defRPr>
            </a:pPr>
            <a:r>
              <a:t>Teaching tip: pause before each output and ask students to predict what they expect to see.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Hands-on Decision Tree Analysis with Python</dc:title>
  <dc:subject>Credit classification teaching demo</dc:subject>
  <dc:creator>Dr. Jiahui Mo</dc:creator>
  <cp:keywords>decision tree, Python, Google Colab, classification, credit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