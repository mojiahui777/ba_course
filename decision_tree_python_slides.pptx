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CC0000"/>
                </a:solidFill>
                <a:latin typeface="Aptos"/>
              </a:defRPr>
            </a:pPr>
            <a:r>
              <a:t>HANDS-ON TEACHING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9601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800" b="1">
                <a:solidFill>
                  <a:srgbClr val="1A1F24"/>
                </a:solidFill>
                <a:latin typeface="Aptos"/>
              </a:defRPr>
            </a:pPr>
            <a:r>
              <a:t>Decision Tree Classification</a:t>
            </a:r>
            <a:br/>
            <a:r>
              <a:t>with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063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0">
                <a:solidFill>
                  <a:srgbClr val="5B6573"/>
                </a:solidFill>
                <a:latin typeface="Aptos"/>
              </a:defRPr>
            </a:pPr>
            <a:r>
              <a:rPr/>
              <a:t>Reusable workflow  •  Bring your own CSV  •  Google Colab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5440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1A1F24"/>
                </a:solidFill>
                <a:latin typeface="Aptos"/>
              </a:defRPr>
            </a:pPr>
            <a:r>
              <a:t>Dr. Jiahui 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790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5B6573"/>
                </a:solidFill>
                <a:latin typeface="Aptos"/>
              </a:defRPr>
            </a:pPr>
            <a:r>
              <a:t>Information Technology &amp; Business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What will we 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502920" cy="50292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35331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353312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5B6573"/>
                </a:solidFill>
                <a:latin typeface="Aptos"/>
              </a:defRPr>
            </a:pPr>
            <a:r>
              <a:rPr/>
              <a:t>Read the example or upload any classification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258568"/>
            <a:ext cx="502920" cy="50292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5856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28599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285999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5B6573"/>
                </a:solidFill>
                <a:latin typeface="Aptos"/>
              </a:defRPr>
            </a:pPr>
            <a:r>
              <a:rPr/>
              <a:t>Configure column roles, handle missing data, and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502920" cy="50292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91256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2186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218688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5B6573"/>
                </a:solidFill>
                <a:latin typeface="Aptos"/>
              </a:defRPr>
            </a:pPr>
            <a:r>
              <a:t>Fit a readable entropy-based decision tree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23944"/>
            <a:ext cx="502920" cy="50292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2394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151376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151376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5B6573"/>
                </a:solidFill>
                <a:latin typeface="Aptos"/>
              </a:defRPr>
            </a:pPr>
            <a:r>
              <a:t>Compare accuracy, baseline, and confusion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056632"/>
            <a:ext cx="502920" cy="50292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566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08406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Interpret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084064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5B6573"/>
                </a:solidFill>
                <a:latin typeface="Aptos"/>
              </a:defRPr>
            </a:pPr>
            <a:r>
              <a:t>Read the tree, rules, and feature importance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1 · FRAME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Reusable workflow with a Credit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1">
                <a:solidFill>
                  <a:srgbClr val="CC0000"/>
                </a:solidFill>
                <a:latin typeface="Aptos"/>
              </a:defRPr>
            </a:pPr>
            <a: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47091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100" b="1">
                <a:solidFill>
                  <a:srgbClr val="1A1F24"/>
                </a:solidFill>
                <a:latin typeface="Aptos"/>
              </a:defRPr>
            </a:pPr>
            <a:r>
              <a:rPr/>
              <a:t>For any dataset: define one row, the target category, available predictors, and how the prediction will be used.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71800"/>
            <a:ext cx="4709160" cy="1078992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182112"/>
            <a:ext cx="43159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CC0000"/>
                </a:solidFill>
                <a:latin typeface="Aptos"/>
              </a:defRPr>
            </a:pPr>
            <a:r>
              <a:rPr/>
              <a:t>Credit.csv is the worked example; students repeat the workflow with another classification dataset.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715000" y="1353312"/>
          <a:ext cx="56235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325880"/>
                <a:gridCol w="2880360"/>
              </a:tblGrid>
              <a:tr h="64922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Meaning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OBS#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Exclude from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DURATION, AGE, Amount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Numeric inputs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Measured quantities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CHK_ACCT, JOB, ...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Category inputs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Codes; one-hot encode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CREDIT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Recorded class 0 or 1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715000" y="4773168"/>
            <a:ext cx="56235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1">
                <a:solidFill>
                  <a:srgbClr val="5B6573"/>
                </a:solidFill>
                <a:latin typeface="Aptos"/>
              </a:defRPr>
            </a:pPr>
            <a:r>
              <a:rPr/>
              <a:t>Every new dataset needs its own verified column meanings and target definition.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2 · SET UP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Import the libraries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 Mono"/>
              </a:defRPr>
            </a:pPr>
            <a:r>
              <a:rPr sz="1200">
                <a:solidFill>
                  <a:srgbClr val="FFFFFF"/>
                </a:solidFill>
                <a:latin typeface="Aptos Mono"/>
              </a:rPr>
              <a:t> 1  import io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2  from pathlib import Path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3  import matplotlib.pyplot as plt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4  import pandas as pd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5  from sklearn.compose import ColumnTransformer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6  from sklearn.impute import SimpleImputer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7  from sklearn.metrics import (...)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8  from sklearn.model_selection import train_test_split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9  from sklearn.pipeline import Pipeline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10  from sklearn.preprocessing import OneHotEncoder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11  from sklearn.tree import DecisionTreeClassifier, plot_tree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1–2  Support uploaded files and local paths.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3–4  Create charts and work with tables.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5–6, 9–10  Build reusable preprocessing, including missing values and categories.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7  Imports evaluation tools.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8  Creates training and testing samples.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11  Imports the tree model and plot.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3 · LOAD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Choose the example or upload your CSV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rPr sz="1400">
                <a:solidFill>
                  <a:srgbClr val="FFFFFF"/>
                </a:solidFill>
                <a:latin typeface="Aptos Mono"/>
              </a:rPr>
              <a:t> 1  EXAMPLE_URL = "https://raw.githubusercontent.com/.../Credit.csv"</a:t>
            </a:r>
          </a:p>
          <a:p>
            <a:pPr algn="l"/>
            <a:r>
              <a:rPr sz="1400">
                <a:solidFill>
                  <a:srgbClr val="FFFFFF"/>
                </a:solidFill>
                <a:latin typeface="Aptos Mono"/>
              </a:rPr>
              <a:t> 2  UPLOAD_FILE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  Stores the worked-example CSV address.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2  False runs the example. Change to True to upload any classification CSV in Colab.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Every choice creates the same DataFrame name: df.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3 · LOAD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Create the reusable DataFrame named df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t> 1  if UPLOAD_FILE:</a:t>
            </a:r>
            <a:br/>
            <a:r>
              <a:t> 2      from google.colab import files</a:t>
            </a:r>
            <a:br/>
            <a:r>
              <a:t> 3      uploaded = files.upload()</a:t>
            </a:r>
            <a:br/>
            <a:r>
              <a:t> 4      df = pd.read_csv(io.BytesIO(...))</a:t>
            </a:r>
            <a:br/>
            <a:r>
              <a:t> 5  else:</a:t>
            </a:r>
            <a:br/>
            <a:r>
              <a:t> 6      df = pd.read_csv(raw_url)</a:t>
            </a:r>
            <a:br/>
            <a:r>
              <a:t> 7  print(f"Dataset shape: {df.shape}")</a:t>
            </a:r>
            <a:br/>
            <a:r>
              <a:t> 8  df.head()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1–4  When True, Colab displays a file button and reads the student's CSV.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5–6  Otherwise, pandas reads the example.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7  Reports the current dataset's shape.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8  Displays its first five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3 · LOAD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Default example: check the loaded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371600"/>
          <a:ext cx="74066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143000"/>
                <a:gridCol w="1143000"/>
                <a:gridCol w="731520"/>
                <a:gridCol w="1325880"/>
                <a:gridCol w="731520"/>
                <a:gridCol w="640080"/>
                <a:gridCol w="960120"/>
              </a:tblGrid>
              <a:tr h="4953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OBS#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CHK_ACCT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AGE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Amount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JOB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...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CREDIT</a:t>
                      </a:r>
                    </a:p>
                  </a:txBody>
                  <a:tcPr marL="73152" marR="73152" marT="36576" marB="36576">
                    <a:solidFill>
                      <a:srgbClr val="CC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10,034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...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48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22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10,543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...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2,032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...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42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45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30,456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...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4F5F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53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26,455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...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1F24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4663440"/>
            <a:ext cx="10835640" cy="685800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828032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rPr/>
              <a:t>Credit example shape: 59 rows × 10 columns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rPr/>
              <a:t>STEP 4 · CONFIGURE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Tell Python what each column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57276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rPr/>
              <a:t>Students edit one settings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10312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rPr/>
              <a:t>•  TARGET_COLUMN: category to predict</a:t>
            </a:r>
          </a:p>
          <a:p>
            <a:pPr/>
            <a:r>
              <a:rPr/>
              <a:t>•  ID_COLUMNS: fields to exclude</a:t>
            </a:r>
          </a:p>
          <a:p>
            <a:pPr/>
            <a:r>
              <a:rPr/>
              <a:t>•  CATEGORICAL_COLUMNS: text or category codes</a:t>
            </a:r>
          </a:p>
          <a:p>
            <a:pPr/>
            <a:r>
              <a:rPr/>
              <a:t>•  TEST_SIZE and MAX_DEPTH: optional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846320"/>
            <a:ext cx="4343400" cy="685800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501091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1">
                <a:solidFill>
                  <a:srgbClr val="CC0000"/>
                </a:solidFill>
                <a:latin typeface="Aptos"/>
              </a:defRPr>
            </a:pPr>
            <a:r>
              <a:rPr/>
              <a:t>This replaces the old Credit-only expected_columns check.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389888"/>
            <a:ext cx="5897880" cy="2903572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9672" y="1680245"/>
            <a:ext cx="5190134" cy="2322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  <a:latin typeface="Aptos Mono"/>
              </a:rPr>
              <a:t>TARGET_COLUMN = "CREDIT"</a:t>
            </a:r>
          </a:p>
          <a:p/>
          <a:p>
            <a:r>
              <a:rPr sz="1500">
                <a:solidFill>
                  <a:srgbClr val="FFFFFF"/>
                </a:solidFill>
                <a:latin typeface="Aptos Mono"/>
              </a:rPr>
              <a:t>ID_COLUMNS = ["OBS#"]</a:t>
            </a:r>
          </a:p>
          <a:p/>
          <a:p>
            <a:r>
              <a:rPr sz="1500">
                <a:solidFill>
                  <a:srgbClr val="FFFFFF"/>
                </a:solidFill>
                <a:latin typeface="Aptos Mono"/>
              </a:rPr>
              <a:t>CATEGORICAL_COLUMNS = [</a:t>
            </a:r>
          </a:p>
          <a:p>
            <a:r>
              <a:rPr sz="1500">
                <a:solidFill>
                  <a:srgbClr val="FFFFFF"/>
                </a:solidFill>
                <a:latin typeface="Aptos Mono"/>
              </a:rPr>
              <a:t>    "CHK_ACCT", "JOB", ...</a:t>
            </a:r>
          </a:p>
          <a:p>
            <a:r>
              <a:rPr sz="1500">
                <a:solidFill>
                  <a:srgbClr val="FFFFFF"/>
                </a:solidFill>
                <a:latin typeface="Aptos Mono"/>
              </a:rPr>
              <a:t>]</a:t>
            </a:r>
          </a:p>
          <a:p/>
          <a:p>
            <a:r>
              <a:rPr sz="1500">
                <a:solidFill>
                  <a:srgbClr val="FFFFFF"/>
                </a:solidFill>
                <a:latin typeface="Aptos Mono"/>
              </a:rPr>
              <a:t>TEST_SIZE = 0.20</a:t>
            </a:r>
          </a:p>
          <a:p>
            <a:r>
              <a:rPr sz="1500">
                <a:solidFill>
                  <a:srgbClr val="FFFFFF"/>
                </a:solidFill>
                <a:latin typeface="Aptos Mono"/>
              </a:rPr>
              <a:t>MAX_DEPTH =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rPr/>
              <a:t>STEP 5 · VALIDATE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Validate settings and select predictors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rPr sz="1100">
                <a:solidFill>
                  <a:srgbClr val="FFFFFF"/>
                </a:solidFill>
                <a:latin typeface="Aptos Mono"/>
              </a:rPr>
              <a:t> 1  required = [TARGET_COLUMN] + ID_COLUMNS + CATEGORICAL_COLUMNS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2  missing = [c for c in required if c not in df.columns]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3  if missing: raise ValueError(...)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4  feature_columns = [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5      c for c in df.columns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6      if c not in ID_COLUMNS + [TARGET_COLUMN]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7  ]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 Mono"/>
              </a:rPr>
              <a:t> 8  X, y = df[feature_columns], df[TARGET_COLUMN]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1–3  Catch column-name mistakes early and show the available fields.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4–7  Exclude the configured IDs and target.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8  Create predictors X and target y.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The same code works after students change the settings.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5 · PREPARE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Impute missing values and encode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rPr sz="1300">
                <a:solidFill>
                  <a:srgbClr val="FFFFFF"/>
                </a:solidFill>
                <a:latin typeface="Aptos Mono"/>
              </a:rPr>
              <a:t> 1  categorical_pipeline = Pipeline([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2    ("imputer", SimpleImputer(...)),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3    ("onehot", OneHotEncoder(...))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4  ])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5  numeric_pipeline = Pipeline([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6    ("imputer", SimpleImputer(strategy="median"))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7  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1–4  Fill missing categories, then make 0/1 indicator columns.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5–7  Fill missing numeric values with the median.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ColumnTransformer applies each pipeline to the configured columns.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Decision trees do not require feature scaling.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6 · SPLIT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Create an 80/20 train-test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t> 1  X_train, X_test, y_train, y_test = train_test_split(</a:t>
            </a:r>
            <a:br/>
            <a:r>
              <a:t> 2      X, y,</a:t>
            </a:r>
            <a:br/>
            <a:r>
              <a:t> 3      test_size=0.20,</a:t>
            </a:r>
            <a:br/>
            <a:r>
              <a:t> 4      random_state=42,</a:t>
            </a:r>
            <a:br/>
            <a:r>
              <a:t> 5      stratify=y</a:t>
            </a:r>
            <a:br/>
            <a:r>
              <a:t> 6  )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1–2  Separates predictors and labels together.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3  Reserves the configured test share.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4  Makes the split reproducible.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5  Preserves class proportions when classes have enough rows.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The row counts depend on the uploaded dataset.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7 · TRAIN THE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Fit a readable entropy-based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tos Mono"/>
              </a:defRPr>
            </a:pPr>
            <a:r>
              <a:rPr sz="1300">
                <a:solidFill>
                  <a:srgbClr val="FFFFFF"/>
                </a:solidFill>
                <a:latin typeface="Aptos Mono"/>
              </a:rPr>
              <a:t> 1  model = Pipeline([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2    ("preprocess", preprocessor),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3    ("tree", DecisionTreeClassifier(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4        criterion="entropy",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5        max_depth=MAX_DEPTH,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6        random_state=RANDOM_STATE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7    ))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8  ])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9  model.fit(X_train, y_train)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t>1–2  Applies identical preprocessing during training and prediction.</a:t>
            </a:r>
            <a:br/>
            <a:br/>
            <a:r>
              <a:t>3  Creates the classifier.</a:t>
            </a:r>
            <a:br/>
            <a:br/>
            <a:r>
              <a:t>4  Chooses splits using entropy reduction.</a:t>
            </a:r>
            <a:br/>
            <a:br/>
            <a:r>
              <a:t>5  Limits depth for readability and reduces overfitting.</a:t>
            </a:r>
            <a:br/>
            <a:br/>
            <a:r>
              <a:t>6  Makes tie-breaking reproducible.</a:t>
            </a:r>
            <a:br/>
            <a:br/>
            <a:r>
              <a:t>9  Learns the tree from the training rows.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7 · TRAIN THE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How does a decision tree choose a split?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685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417320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1A1F24"/>
                </a:solidFill>
                <a:latin typeface="Aptos"/>
              </a:defRPr>
            </a:pPr>
            <a:r>
              <a:t>Try candidate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2024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5B6573"/>
                </a:solidFill>
                <a:latin typeface="Aptos"/>
              </a:defRPr>
            </a:pPr>
            <a:r>
              <a:rPr/>
              <a:t>Example: one candidate question from the current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685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599" y="1417320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1A1F24"/>
                </a:solidFill>
                <a:latin typeface="Aptos"/>
              </a:defRPr>
            </a:pPr>
            <a:r>
              <a:t>Measure class mixture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599" y="192024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5B6573"/>
                </a:solidFill>
                <a:latin typeface="Aptos"/>
              </a:defRPr>
            </a:pPr>
            <a:r>
              <a:t>Entropy is lower when a node is purer.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685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566160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1A1F24"/>
                </a:solidFill>
                <a:latin typeface="Aptos"/>
              </a:defRPr>
            </a:pPr>
            <a:r>
              <a:t>Choose the best reduction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0690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5B6573"/>
                </a:solidFill>
                <a:latin typeface="Aptos"/>
              </a:defRPr>
            </a:pPr>
            <a:r>
              <a:t>Prefer the split with the largest information gain.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3566160"/>
            <a:ext cx="685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599" y="3566160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1A1F24"/>
                </a:solidFill>
                <a:latin typeface="Aptos"/>
              </a:defRPr>
            </a:pPr>
            <a:r>
              <a:t>Repeat on each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599" y="40690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5B6573"/>
                </a:solidFill>
                <a:latin typeface="Aptos"/>
              </a:defRPr>
            </a:pPr>
            <a:r>
              <a:rPr/>
              <a:t>Stop at the configured MAX_DEPTH in this demo.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23560"/>
            <a:ext cx="10698480" cy="438912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715000"/>
            <a:ext cx="10287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CC0000"/>
                </a:solidFill>
                <a:latin typeface="Aptos"/>
              </a:defRPr>
            </a:pPr>
            <a:r>
              <a:t>Entropy is a split criterion—not a measure of business fairness or real-world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8 ·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Predict the holdout rows and calculate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t> 1  y_pred = model.predict(X_test)</a:t>
            </a:r>
            <a:br/>
            <a:r>
              <a:t> 2  accuracy_score(y_test, y_pred)</a:t>
            </a:r>
            <a:br/>
            <a:r>
              <a:t> 3  balanced_accuracy_score(y_test, y_pred)</a:t>
            </a:r>
            <a:br/>
            <a:r>
              <a:t> 4  classification_report(y_test, y_pred)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  Applies preprocessing and the fitted tree to unseen test rows.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2  Calculates the overall correct share.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3  Averages recall across all target classes.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4  Reports precision, recall, and F1 for each class.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Use several views; no single metric tells the whole story.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8 ·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Default Credit example: holdout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3246120" cy="16002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5B6573"/>
                </a:solidFill>
                <a:latin typeface="Aptos"/>
              </a:defRPr>
            </a:pPr>
            <a:r>
              <a:t>Test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2788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2900" b="1">
                <a:solidFill>
                  <a:srgbClr val="CC0000"/>
                </a:solidFill>
                <a:latin typeface="Aptos"/>
              </a:defRPr>
            </a:pPr>
            <a:r>
              <a:t>0.667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1463040"/>
            <a:ext cx="3246120" cy="16002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1737360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5B6573"/>
                </a:solidFill>
                <a:latin typeface="Aptos"/>
              </a:defRPr>
            </a:pPr>
            <a:r>
              <a:t>Balanced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148840"/>
            <a:ext cx="2788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2900" b="1">
                <a:solidFill>
                  <a:srgbClr val="CC0000"/>
                </a:solidFill>
                <a:latin typeface="Aptos"/>
              </a:defRPr>
            </a:pPr>
            <a:r>
              <a:t>0.444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1463040"/>
            <a:ext cx="3246120" cy="16002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7344" y="1737360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5B6573"/>
                </a:solidFill>
                <a:latin typeface="Aptos"/>
              </a:defRPr>
            </a:pPr>
            <a:r>
              <a:t>Majority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2148840"/>
            <a:ext cx="2788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2900" b="1">
                <a:solidFill>
                  <a:srgbClr val="CC0000"/>
                </a:solidFill>
                <a:latin typeface="Aptos"/>
              </a:defRPr>
            </a:pPr>
            <a:r>
              <a:t>0.766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520440"/>
            <a:ext cx="10698480" cy="1325880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767328"/>
            <a:ext cx="10195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The tree's 66.7% accuracy is below the 76.6% training baseline. Balanced accuracy is also low. The correct conclusion is not ‘success’—it is that this tiny sample does not support a reliable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1A1F24"/>
                </a:solidFill>
                <a:latin typeface="Aptos"/>
              </a:defRPr>
            </a:pPr>
            <a:r>
              <a:t>A negative result is still a valuable modeling result when it prevents false confidence.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8 ·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Draw the confusion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 Mono"/>
              </a:defRPr>
            </a:pPr>
            <a:r>
              <a:rPr sz="1300">
                <a:solidFill>
                  <a:srgbClr val="FFFFFF"/>
                </a:solidFill>
                <a:latin typeface="Aptos Mono"/>
              </a:rPr>
              <a:t> 1  class_labels = list(tree_model.classes_)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2  ConfusionMatrixDisplay.from_predictions(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3      y_test, y_pred,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4      labels=class_labels,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5      cmap="Reds", colorbar=False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6  )</a:t>
            </a:r>
          </a:p>
          <a:p>
            <a:pPr algn="l"/>
            <a:r>
              <a:rPr sz="1300">
                <a:solidFill>
                  <a:srgbClr val="FFFFFF"/>
                </a:solidFill>
                <a:latin typeface="Aptos Mono"/>
              </a:rPr>
              <a:t> 7  plt.show()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rPr/>
              <a:t>1  Reads the target labels learned from the current dataset.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2–4  Compares actual and predicted classes in a fixed order.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5–7  Controls and displays the chart.</a:t>
            </a:r>
          </a:p>
          <a:p>
            <a:pPr algn="l"/>
            <a:r>
              <a:rPr/>
              <a:t/>
            </a:r>
          </a:p>
          <a:p>
            <a:pPr algn="l"/>
            <a:r>
              <a:rPr/>
              <a:t>Rows are actual classes; columns are predicted classes.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8 ·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Default Credit example: where are the errors?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715000" cy="45288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12280" y="15544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084831"/>
            <a:ext cx="4251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8 class-1 rows are correctly identified.</a:t>
            </a:r>
          </a:p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1 class-1 row is predicted as class 0.</a:t>
            </a:r>
          </a:p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All 3 class-0 rows are missed.</a:t>
            </a:r>
          </a:p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Overall accuracy hides that class-0 recall is 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800600"/>
            <a:ext cx="4343400" cy="804672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2592" y="4965192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CC0000"/>
                </a:solidFill>
                <a:latin typeface="Aptos"/>
              </a:defRPr>
            </a:pPr>
            <a:r>
              <a:rPr/>
              <a:t>For a new dataset, interpret errors using its own class meanings and decision costs.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9 · INTERPRET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Visualize the fitted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98448"/>
            <a:ext cx="5623560" cy="480060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1298448"/>
            <a:ext cx="5138928" cy="4800600"/>
          </a:xfrm>
          <a:prstGeom prst="round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17904"/>
            <a:ext cx="5230368" cy="437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tos Mono"/>
              </a:defRPr>
            </a:pPr>
            <a:r>
              <a:rPr sz="1200">
                <a:solidFill>
                  <a:srgbClr val="FFFFFF"/>
                </a:solidFill>
                <a:latin typeface="Aptos Mono"/>
              </a:rPr>
              <a:t> 1  tree_model = model.named_steps["tree"]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2  feature_names = model.named_steps["preprocess"]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3      .get_feature_names_out()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4  plot_tree(tree_model,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5      feature_names=feature_names,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6      class_names=[str(v) for v in tree_model.classes_],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7      filled=True, rounded=True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Aptos Mono"/>
              </a:rPr>
              <a:t> 8  )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1545336"/>
            <a:ext cx="4645152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0">
                <a:solidFill>
                  <a:srgbClr val="1A1F24"/>
                </a:solidFill>
                <a:latin typeface="Aptos"/>
              </a:defRPr>
            </a:pPr>
            <a:r>
              <a:t>1  Extracts the fitted classifier from the pipeline.</a:t>
            </a:r>
            <a:br/>
            <a:br/>
            <a:r>
              <a:t>2–3  Gets the names created by one-hot encoding.</a:t>
            </a:r>
            <a:br/>
            <a:br/>
            <a:r>
              <a:t>4–8  Draws the nodes, questions, class counts, and predicted class.</a:t>
            </a:r>
            <a:br/>
            <a:br/>
            <a:r>
              <a:t>Follow left when the condition is true and right when it is false.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9 · INTERPRET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Read the fitted decision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8" name="Picture 7" descr="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972800" cy="53149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9 · INTERPRET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What does each node tell us?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89888"/>
            <a:ext cx="8595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t>The question used to route a row left or right.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Entropy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267712"/>
            <a:ext cx="8595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t>The node's class mixture; 0 means completely pure.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536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Samples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145536"/>
            <a:ext cx="8595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t>How many training rows reached the node.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4023360"/>
            <a:ext cx="8595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rPr/>
              <a:t>Counts for every target class at that node.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901183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901183"/>
            <a:ext cx="8595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t>The prediction made at that node or leaf.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623560"/>
            <a:ext cx="10561320" cy="429768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5715000"/>
            <a:ext cx="10149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CC0000"/>
                </a:solidFill>
                <a:latin typeface="Aptos"/>
              </a:defRPr>
            </a:pPr>
            <a:r>
              <a:t>A readable rule can still be unstable, inaccurate, or inappropriate for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10 · INTERPRET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Which features did this tree use?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5897880" cy="30850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157276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CC0000"/>
                </a:solidFill>
                <a:latin typeface="Aptos"/>
              </a:defRPr>
            </a:pPr>
            <a:r>
              <a:t>Use importance carefully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03120"/>
            <a:ext cx="43891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Importance sums impurity reduction in this tree.</a:t>
            </a:r>
          </a:p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Unused features receive zero importance.</a:t>
            </a:r>
          </a:p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Correlated inputs can share or shift importance.</a:t>
            </a:r>
          </a:p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t>•  Importance does not prove causality or fairness.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11 ·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t>Can class weighting change the errors?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4983480" cy="3337560"/>
          </a:xfrm>
          <a:prstGeom prst="roundRect">
            <a:avLst/>
          </a:prstGeom>
          <a:solidFill>
            <a:srgbClr val="1A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591056"/>
            <a:ext cx="4553712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tos Mono"/>
              </a:defRPr>
            </a:pPr>
            <a:r>
              <a:t>DecisionTreeClassifier(</a:t>
            </a:r>
            <a:br/>
            <a:r>
              <a:t>    criterion="entropy",</a:t>
            </a:r>
            <a:br/>
            <a:r>
              <a:t>    max_depth=3,</a:t>
            </a:r>
            <a:br/>
            <a:r>
              <a:t>    class_weight="balanced",</a:t>
            </a:r>
            <a:br/>
            <a:r>
              <a:t>    random_state=42</a:t>
            </a:r>
            <a:br/>
            <a: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4173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000" b="1">
                <a:solidFill>
                  <a:srgbClr val="CC0000"/>
                </a:solidFill>
                <a:latin typeface="Aptos"/>
              </a:defRPr>
            </a:pPr>
            <a:r>
              <a:t>Why try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9659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A1F24"/>
                </a:solidFill>
                <a:latin typeface="Aptos"/>
              </a:defRPr>
            </a:pPr>
            <a:r>
              <a:rPr/>
              <a:t>•  Try weighting when one or more classes are much less frequent.</a:t>
            </a:r>
          </a:p>
          <a:p>
            <a:pPr/>
            <a:r>
              <a:rPr/>
              <a:t>•  Minority-class mistakes receive more influence during training.</a:t>
            </a:r>
          </a:p>
          <a:p>
            <a:pPr/>
            <a:r>
              <a:rPr/>
              <a:t>•  The error tradeoff may shift—not disappear.</a:t>
            </a:r>
          </a:p>
          <a:p>
            <a:pPr/>
            <a:r>
              <a:rPr/>
              <a:t>•  Compare using decision costs and stronger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02352"/>
            <a:ext cx="10881360" cy="566928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239512"/>
            <a:ext cx="10469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CC0000"/>
                </a:solidFill>
                <a:latin typeface="Aptos"/>
              </a:defRPr>
            </a:pPr>
            <a:r>
              <a:rPr/>
              <a:t>Class weighting is an experiment, not an automatic improvement.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STEP 12 ·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What must students reconsider for new data?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25880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CC0000"/>
                </a:solidFill>
                <a:latin typeface="Aptos"/>
              </a:defRPr>
            </a:pPr>
            <a:r>
              <a:rPr/>
              <a:t>Problem meaning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325880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rPr/>
              <a:t>Define one row, the target, prediction timing, and decision 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5856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CC0000"/>
                </a:solidFill>
                <a:latin typeface="Aptos"/>
              </a:defRPr>
            </a:pPr>
            <a:r>
              <a:rPr/>
              <a:t>Column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258568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rPr/>
              <a:t>Remove IDs and leakage; identify coded categories correctly.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91256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CC0000"/>
                </a:solidFill>
                <a:latin typeface="Aptos"/>
              </a:defRPr>
            </a:pPr>
            <a:r>
              <a:rPr/>
              <a:t>Sample and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191256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rPr/>
              <a:t>Check whether every class has enough training and test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23944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CC0000"/>
                </a:solidFill>
                <a:latin typeface="Aptos"/>
              </a:defRPr>
            </a:pPr>
            <a:r>
              <a:rPr/>
              <a:t>Error meaning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4123944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rPr/>
              <a:t>Interpret each confusion-matrix error in the new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56632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CC0000"/>
                </a:solidFill>
                <a:latin typeface="Aptos"/>
              </a:defRPr>
            </a:pPr>
            <a:r>
              <a:rPr/>
              <a:t>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5056632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0">
                <a:solidFill>
                  <a:srgbClr val="1A1F24"/>
                </a:solidFill>
                <a:latin typeface="Aptos"/>
              </a:defRPr>
            </a:pPr>
            <a:r>
              <a:rPr/>
              <a:t>Discuss data quality, bias, stability, and deployment risks.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70448"/>
            <a:ext cx="10561320" cy="2286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CC0000"/>
                </a:solidFill>
                <a:latin typeface="Aptos"/>
              </a:defRPr>
            </a:pPr>
            <a:r>
              <a:t>GENERAL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900" b="1">
                <a:solidFill>
                  <a:srgbClr val="1A1F24"/>
                </a:solidFill>
                <a:latin typeface="Aptos"/>
              </a:defRPr>
            </a:pPr>
            <a:r>
              <a:t>A repeatable classification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Frame the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6771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0">
                <a:solidFill>
                  <a:srgbClr val="5B6573"/>
                </a:solidFill>
                <a:latin typeface="Aptos"/>
              </a:defRPr>
            </a:pPr>
            <a:r>
              <a:t>Define the target, decisions, and error costs.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2724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Audit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0">
                <a:solidFill>
                  <a:srgbClr val="5B6573"/>
                </a:solidFill>
                <a:latin typeface="Aptos"/>
              </a:defRPr>
            </a:pPr>
            <a:r>
              <a:t>Check meaning, quality, leakage, and class balance.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25696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2569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Prepare and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64608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0">
                <a:solidFill>
                  <a:srgbClr val="5B6573"/>
                </a:solidFill>
                <a:latin typeface="Aptos"/>
              </a:defRPr>
            </a:pPr>
            <a:r>
              <a:t>Fit preprocessing only through a reproducible pipeline.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828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Train and 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26771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0">
                <a:solidFill>
                  <a:srgbClr val="5B6573"/>
                </a:solidFill>
                <a:latin typeface="Aptos"/>
              </a:defRPr>
            </a:pPr>
            <a:r>
              <a:t>Control complexity; inspect rules and assumptions.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127248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12724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Evaluate honestly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566160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0">
                <a:solidFill>
                  <a:srgbClr val="5B6573"/>
                </a:solidFill>
                <a:latin typeface="Aptos"/>
              </a:defRPr>
            </a:pPr>
            <a:r>
              <a:t>Use baselines, class-aware metrics, and stronger validation.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A1F24"/>
                </a:solidFill>
                <a:latin typeface="Aptos"/>
              </a:defRPr>
            </a:pPr>
            <a:r>
              <a:t>A classification model is valuable only when its predictions support a valid, responsible decision.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Aptos"/>
              </a:defRPr>
            </a:pPr>
            <a:r>
              <a:t>TEACHING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800" b="1">
                <a:solidFill>
                  <a:srgbClr val="1A1F24"/>
                </a:solidFill>
                <a:latin typeface="Aptos"/>
              </a:defRPr>
            </a:pPr>
            <a:r>
              <a:rPr/>
              <a:t>Repeat the workflow with another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6539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Hands-on Decision Tree Analysis with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47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5B6573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1F24"/>
                </a:solidFill>
                <a:latin typeface="Aptos"/>
              </a:defRPr>
            </a:pPr>
            <a:r>
              <a:rPr/>
              <a:t>•  First run the Credit example from GitHub.</a:t>
            </a:r>
          </a:p>
          <a:p>
            <a:pPr/>
            <a:r>
              <a:rPr/>
              <a:t>•  Change UPLOAD_FILE = True and upload another classification CSV.</a:t>
            </a:r>
          </a:p>
          <a:p>
            <a:pPr/>
            <a:r>
              <a:rPr/>
              <a:t>•  Edit only the Section 4 settings: target, IDs, and categorical columns.</a:t>
            </a:r>
          </a:p>
          <a:p>
            <a:pPr/>
            <a:r>
              <a:rPr/>
              <a:t>•  Select Runtime → Run all, then interpret every new output.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515600" cy="1005840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1">
                <a:solidFill>
                  <a:srgbClr val="CC0000"/>
                </a:solidFill>
                <a:latin typeface="Aptos"/>
              </a:defRPr>
            </a:pPr>
            <a:r>
              <a:t>OPEN THE COLAB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2885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1A1F24"/>
                </a:solidFill>
                <a:latin typeface="Aptos"/>
              </a:defRPr>
            </a:pPr>
            <a:r>
              <a:t>https://colab.research.google.com/github/mojiahui777/ba_course/blob/main/decision_tree_credit_risk_demo.ipynb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2303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1A1F24"/>
                </a:solidFill>
                <a:latin typeface="Aptos"/>
              </a:defRPr>
            </a:pPr>
            <a:r>
              <a:rPr/>
              <a:t>Student deliverable: business question, settings, data audit, model, evaluation, interpretation, and limitations.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Reusable Decision Tree Classification Workflow with Python</dc:title>
  <dc:subject>Bring-your-own-data classification teaching demo</dc:subject>
  <dc:creator>Dr. Jiahui Mo</dc:creator>
  <cp:keywords>decision tree, Python, Google Colab, classification, credit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